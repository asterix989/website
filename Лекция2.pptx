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9" r:id="rId1"/>
  </p:sldMasterIdLst>
  <p:notesMasterIdLst>
    <p:notesMasterId r:id="rId39"/>
  </p:notesMasterIdLst>
  <p:handoutMasterIdLst>
    <p:handoutMasterId r:id="rId40"/>
  </p:handoutMasterIdLst>
  <p:sldIdLst>
    <p:sldId id="256" r:id="rId2"/>
    <p:sldId id="571" r:id="rId3"/>
    <p:sldId id="574" r:id="rId4"/>
    <p:sldId id="572" r:id="rId5"/>
    <p:sldId id="575" r:id="rId6"/>
    <p:sldId id="585" r:id="rId7"/>
    <p:sldId id="586" r:id="rId8"/>
    <p:sldId id="587" r:id="rId9"/>
    <p:sldId id="588" r:id="rId10"/>
    <p:sldId id="576" r:id="rId11"/>
    <p:sldId id="577" r:id="rId12"/>
    <p:sldId id="578" r:id="rId13"/>
    <p:sldId id="581" r:id="rId14"/>
    <p:sldId id="615" r:id="rId15"/>
    <p:sldId id="613" r:id="rId16"/>
    <p:sldId id="614" r:id="rId17"/>
    <p:sldId id="591" r:id="rId18"/>
    <p:sldId id="597" r:id="rId19"/>
    <p:sldId id="598" r:id="rId20"/>
    <p:sldId id="584" r:id="rId21"/>
    <p:sldId id="596" r:id="rId22"/>
    <p:sldId id="594" r:id="rId23"/>
    <p:sldId id="599" r:id="rId24"/>
    <p:sldId id="590" r:id="rId25"/>
    <p:sldId id="589" r:id="rId26"/>
    <p:sldId id="601" r:id="rId27"/>
    <p:sldId id="582" r:id="rId28"/>
    <p:sldId id="602" r:id="rId29"/>
    <p:sldId id="603" r:id="rId30"/>
    <p:sldId id="604" r:id="rId31"/>
    <p:sldId id="600" r:id="rId32"/>
    <p:sldId id="580" r:id="rId33"/>
    <p:sldId id="606" r:id="rId34"/>
    <p:sldId id="608" r:id="rId35"/>
    <p:sldId id="610" r:id="rId36"/>
    <p:sldId id="611" r:id="rId37"/>
    <p:sldId id="612" r:id="rId38"/>
  </p:sldIdLst>
  <p:sldSz cx="9144000" cy="6858000" type="screen4x3"/>
  <p:notesSz cx="6808788" cy="9940925"/>
  <p:custDataLst>
    <p:tags r:id="rId41"/>
  </p:custDataLst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 xmlns="">
        <p14:section name="Раздел по умолчанию" id="{FF0D1D4C-0A52-4029-BD58-09EACC7E672F}">
          <p14:sldIdLst>
            <p14:sldId id="256"/>
          </p14:sldIdLst>
        </p14:section>
        <p14:section name="Раздел без заголовка" id="{2FFEBDC5-B804-48AA-B3C4-5EF44146D3C5}">
          <p14:sldIdLst>
            <p14:sldId id="571"/>
            <p14:sldId id="574"/>
            <p14:sldId id="572"/>
            <p14:sldId id="575"/>
            <p14:sldId id="585"/>
            <p14:sldId id="586"/>
            <p14:sldId id="587"/>
            <p14:sldId id="588"/>
            <p14:sldId id="576"/>
            <p14:sldId id="577"/>
            <p14:sldId id="578"/>
            <p14:sldId id="581"/>
            <p14:sldId id="613"/>
            <p14:sldId id="614"/>
            <p14:sldId id="591"/>
            <p14:sldId id="597"/>
            <p14:sldId id="598"/>
            <p14:sldId id="584"/>
            <p14:sldId id="596"/>
            <p14:sldId id="594"/>
            <p14:sldId id="599"/>
            <p14:sldId id="590"/>
            <p14:sldId id="589"/>
            <p14:sldId id="601"/>
            <p14:sldId id="582"/>
            <p14:sldId id="602"/>
            <p14:sldId id="603"/>
            <p14:sldId id="604"/>
            <p14:sldId id="600"/>
            <p14:sldId id="580"/>
            <p14:sldId id="606"/>
            <p14:sldId id="608"/>
            <p14:sldId id="610"/>
            <p14:sldId id="611"/>
            <p14:sldId id="612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B71327"/>
    <a:srgbClr val="DE0000"/>
    <a:srgbClr val="2765AF"/>
    <a:srgbClr val="2C70C2"/>
    <a:srgbClr val="8DB533"/>
    <a:srgbClr val="5F4745"/>
    <a:srgbClr val="6F6F6F"/>
    <a:srgbClr val="86AB2B"/>
    <a:srgbClr val="966797"/>
    <a:srgbClr val="9AC63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0743" autoAdjust="0"/>
  </p:normalViewPr>
  <p:slideViewPr>
    <p:cSldViewPr>
      <p:cViewPr>
        <p:scale>
          <a:sx n="100" d="100"/>
          <a:sy n="100" d="100"/>
        </p:scale>
        <p:origin x="-1350" y="-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7046"/>
          </a:xfrm>
          <a:prstGeom prst="rect">
            <a:avLst/>
          </a:prstGeom>
        </p:spPr>
        <p:txBody>
          <a:bodyPr vert="horz" lIns="91577" tIns="45789" rIns="91577" bIns="45789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6738" y="0"/>
            <a:ext cx="2950475" cy="497046"/>
          </a:xfrm>
          <a:prstGeom prst="rect">
            <a:avLst/>
          </a:prstGeom>
        </p:spPr>
        <p:txBody>
          <a:bodyPr vert="horz" lIns="91577" tIns="45789" rIns="91577" bIns="45789" rtlCol="0"/>
          <a:lstStyle>
            <a:lvl1pPr algn="r">
              <a:defRPr sz="1200"/>
            </a:lvl1pPr>
          </a:lstStyle>
          <a:p>
            <a:fld id="{40C2F3DB-C7CF-45F8-9B28-5F31B31E15F3}" type="datetimeFigureOut">
              <a:rPr lang="ru-RU" smtClean="0"/>
              <a:pPr/>
              <a:t>17.02.2025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42153"/>
            <a:ext cx="2950475" cy="497046"/>
          </a:xfrm>
          <a:prstGeom prst="rect">
            <a:avLst/>
          </a:prstGeom>
        </p:spPr>
        <p:txBody>
          <a:bodyPr vert="horz" lIns="91577" tIns="45789" rIns="91577" bIns="45789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6738" y="9442153"/>
            <a:ext cx="2950475" cy="497046"/>
          </a:xfrm>
          <a:prstGeom prst="rect">
            <a:avLst/>
          </a:prstGeom>
        </p:spPr>
        <p:txBody>
          <a:bodyPr vert="horz" lIns="91577" tIns="45789" rIns="91577" bIns="45789" rtlCol="0" anchor="b"/>
          <a:lstStyle>
            <a:lvl1pPr algn="r">
              <a:defRPr sz="1200"/>
            </a:lvl1pPr>
          </a:lstStyle>
          <a:p>
            <a:fld id="{BD4D6D18-DFF3-492F-9434-BA4A766B2CD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386768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7046"/>
          </a:xfrm>
          <a:prstGeom prst="rect">
            <a:avLst/>
          </a:prstGeom>
        </p:spPr>
        <p:txBody>
          <a:bodyPr vert="horz" lIns="91577" tIns="45789" rIns="91577" bIns="45789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6738" y="0"/>
            <a:ext cx="2950475" cy="497046"/>
          </a:xfrm>
          <a:prstGeom prst="rect">
            <a:avLst/>
          </a:prstGeom>
        </p:spPr>
        <p:txBody>
          <a:bodyPr vert="horz" lIns="91577" tIns="45789" rIns="91577" bIns="45789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CB4095F-C931-4156-9461-EE5A1ACD99FB}" type="datetimeFigureOut">
              <a:rPr lang="ru-RU"/>
              <a:pPr>
                <a:defRPr/>
              </a:pPr>
              <a:t>17.02.2025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70462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77" tIns="45789" rIns="91577" bIns="45789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0880" y="4721940"/>
            <a:ext cx="5447030" cy="4473416"/>
          </a:xfrm>
          <a:prstGeom prst="rect">
            <a:avLst/>
          </a:prstGeom>
        </p:spPr>
        <p:txBody>
          <a:bodyPr vert="horz" lIns="91577" tIns="45789" rIns="91577" bIns="45789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42153"/>
            <a:ext cx="2950475" cy="497046"/>
          </a:xfrm>
          <a:prstGeom prst="rect">
            <a:avLst/>
          </a:prstGeom>
        </p:spPr>
        <p:txBody>
          <a:bodyPr vert="horz" lIns="91577" tIns="45789" rIns="91577" bIns="45789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6738" y="9442153"/>
            <a:ext cx="2950475" cy="497046"/>
          </a:xfrm>
          <a:prstGeom prst="rect">
            <a:avLst/>
          </a:prstGeom>
        </p:spPr>
        <p:txBody>
          <a:bodyPr vert="horz" lIns="91577" tIns="45789" rIns="91577" bIns="45789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C72C72B-E914-4D75-8FE7-802097FDE47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572420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72C72B-E914-4D75-8FE7-802097FDE47C}" type="slidenum">
              <a:rPr lang="ru-RU" smtClean="0"/>
              <a:pPr>
                <a:defRPr/>
              </a:pPr>
              <a:t>33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9217C2-2F6A-48BD-AB7F-5F599C35C42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097AD0-44DB-45E1-B48E-FA8AE567BED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32DD8-C241-416B-A645-CF634715103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A3627E-DE21-41BD-84A1-D8CD554ED57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E04DF-56C5-41FB-BD1A-8B6F40F66CB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A6197-3A7C-478F-A3AB-04D7D895E4D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82E6C3-2D7A-47A6-9FF4-1213EA62EC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4511CD-0F70-40EB-8183-A11F65F512E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90A6A-A7F0-44A0-BE4F-D3A509E4426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6685422"/>
            <a:ext cx="9144000" cy="172577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0070C0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50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2051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2670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19512" y="626708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28854" y="626147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0705825-E38E-438E-A75A-D719F7F39C7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9144000" cy="620687"/>
          </a:xfrm>
          <a:prstGeom prst="rect">
            <a:avLst/>
          </a:prstGeom>
          <a:gradFill>
            <a:gsLst>
              <a:gs pos="0">
                <a:schemeClr val="tx2">
                  <a:lumMod val="75000"/>
                </a:schemeClr>
              </a:gs>
              <a:gs pos="50000">
                <a:schemeClr val="accent1">
                  <a:lumMod val="75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</a:gradFill>
          <a:ln w="127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412052"/>
            <a:ext cx="914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1000" dirty="0">
                <a:solidFill>
                  <a:schemeClr val="bg1"/>
                </a:solidFill>
                <a:latin typeface="Myriad Pro" pitchFamily="34" charset="0"/>
              </a:rPr>
              <a:t>МОСКОВСКИЙ  ГОСУДАРСТВЕННЫЙ  СТРОИТЕЛЬНЫЙ УНИВЕРСИТЕТ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786" y="6653747"/>
            <a:ext cx="914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НАЦИОНАЛЬНЫЙ ИССЛЕДОВАТЕЛЬСКИЙ </a:t>
            </a:r>
            <a:r>
              <a:rPr lang="ru-RU" sz="1000" dirty="0">
                <a:solidFill>
                  <a:schemeClr val="bg1"/>
                </a:solidFill>
                <a:latin typeface="Myriad Pro" pitchFamily="34" charset="0"/>
              </a:rPr>
              <a:t>МОСКОВСКИЙ  ГОСУДАРСТВЕННЫЙ  СТРОИТЕЛЬНЫЙ УНИВЕРСИТЕТ кафедра</a:t>
            </a:r>
            <a:r>
              <a:rPr lang="ru-RU" sz="1000" baseline="0" dirty="0">
                <a:solidFill>
                  <a:schemeClr val="bg1"/>
                </a:solidFill>
                <a:latin typeface="Myriad Pro" pitchFamily="34" charset="0"/>
              </a:rPr>
              <a:t> ИСТАС</a:t>
            </a:r>
            <a:endParaRPr lang="ru-RU" sz="1000" dirty="0">
              <a:solidFill>
                <a:schemeClr val="bg1"/>
              </a:solidFill>
              <a:latin typeface="Myriad Pro" pitchFamily="34" charset="0"/>
            </a:endParaRPr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1547664" y="1"/>
            <a:ext cx="0" cy="6206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card.ru/lexicon/dma_term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m-help.net/lib/b/book/3065756330/161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http://www.citforum.ru/pictures/it/sos/img00034.gif" TargetMode="External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http://www.citforum.ru/pictures/it/sos/img00034.gif" TargetMode="External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http://www.citforum.ru/pictures/it/sos/img00034.gif" TargetMode="External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http://www.citforum.ru/pictures/it/sos/img00034.gif" TargetMode="External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http://www.citforum.ru/pictures/it/sos/img00034.gif" TargetMode="External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8992" y="6309320"/>
            <a:ext cx="15930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mtClean="0">
                <a:solidFill>
                  <a:schemeClr val="accent1">
                    <a:lumMod val="75000"/>
                  </a:schemeClr>
                </a:solidFill>
                <a:latin typeface="Myrad Pro"/>
              </a:rPr>
              <a:t>2020-2025 гг.</a:t>
            </a:r>
            <a:endParaRPr lang="ru-RU" sz="1400" dirty="0">
              <a:solidFill>
                <a:schemeClr val="accent1">
                  <a:lumMod val="75000"/>
                </a:schemeClr>
              </a:solidFill>
              <a:latin typeface="Myrad Pr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53573" y="35913"/>
            <a:ext cx="6393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CenturyGothic-BoldItalic"/>
              </a:rPr>
              <a:t>НАЦИОНАЛЬНЫЙ ИССЛЕДОВАТЕЛЬСКИЙ</a:t>
            </a:r>
            <a:br>
              <a:rPr lang="ru-RU" sz="1400" dirty="0">
                <a:solidFill>
                  <a:schemeClr val="bg1"/>
                </a:solidFill>
                <a:latin typeface="CenturyGothic-BoldItalic"/>
              </a:rPr>
            </a:br>
            <a:r>
              <a:rPr lang="ru-RU" sz="1400" dirty="0">
                <a:solidFill>
                  <a:schemeClr val="bg1"/>
                </a:solidFill>
                <a:latin typeface="CenturyGothic-BoldItalic"/>
              </a:rPr>
              <a:t>МОСКОВСКИЙ ГОСУДАРСТВЕННЫЙ СТРОИТЕЛЬНЫЙ УНИВЕРСИТЕТ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732240" y="5229200"/>
            <a:ext cx="22460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solidFill>
                  <a:schemeClr val="accent1">
                    <a:lumMod val="75000"/>
                  </a:schemeClr>
                </a:solidFill>
              </a:rPr>
              <a:t>Лектор: доц., к.т.н., </a:t>
            </a:r>
            <a:br>
              <a:rPr lang="ru-RU" sz="1400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ru-RU" sz="1400" dirty="0" smtClean="0">
                <a:solidFill>
                  <a:schemeClr val="accent1">
                    <a:lumMod val="75000"/>
                  </a:schemeClr>
                </a:solidFill>
              </a:rPr>
              <a:t>доцент кафедры ИСТАС  Иванов Н.А.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95536" y="2636912"/>
            <a:ext cx="84249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Управление вводом/выводом</a:t>
            </a:r>
            <a:br>
              <a:rPr lang="ru-RU" sz="2800" b="1" dirty="0"/>
            </a:br>
            <a:r>
              <a:rPr lang="ru-RU" sz="2800" b="1" dirty="0"/>
              <a:t> в операционных системах</a:t>
            </a:r>
            <a:endParaRPr lang="ru-RU" sz="2800" b="1" cap="al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672" y="0"/>
            <a:ext cx="7524328" cy="692696"/>
          </a:xfrm>
        </p:spPr>
        <p:txBody>
          <a:bodyPr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Особенности управления вводом/выводом </a:t>
            </a:r>
            <a:br>
              <a:rPr lang="ru-RU" dirty="0" smtClean="0">
                <a:solidFill>
                  <a:schemeClr val="bg1"/>
                </a:solidFill>
              </a:rPr>
            </a:br>
            <a:r>
              <a:rPr lang="ru-RU" dirty="0" smtClean="0">
                <a:solidFill>
                  <a:schemeClr val="bg1"/>
                </a:solidFill>
              </a:rPr>
              <a:t>в </a:t>
            </a:r>
            <a:r>
              <a:rPr lang="ru-RU" dirty="0">
                <a:solidFill>
                  <a:schemeClr val="bg1"/>
                </a:solidFill>
              </a:rPr>
              <a:t>операционных системах</a:t>
            </a:r>
            <a:endParaRPr lang="ru-RU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8424" y="5805264"/>
            <a:ext cx="298376" cy="320899"/>
          </a:xfrm>
        </p:spPr>
        <p:txBody>
          <a:bodyPr>
            <a:normAutofit fontScale="55000" lnSpcReduction="20000"/>
          </a:bodyPr>
          <a:lstStyle/>
          <a:p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51520" y="764704"/>
            <a:ext cx="8784976" cy="2164230"/>
          </a:xfrm>
        </p:spPr>
        <p:txBody>
          <a:bodyPr>
            <a:noAutofit/>
          </a:bodyPr>
          <a:lstStyle/>
          <a:p>
            <a:pPr algn="just"/>
            <a:r>
              <a:rPr lang="ru-RU" sz="2200" dirty="0"/>
              <a:t>Управление операциями ввода/вывода считается одним из самых </a:t>
            </a:r>
            <a:r>
              <a:rPr lang="ru-RU" sz="2200" u="sng" dirty="0"/>
              <a:t>важных</a:t>
            </a:r>
            <a:r>
              <a:rPr lang="ru-RU" sz="2200" dirty="0"/>
              <a:t> и в то же время </a:t>
            </a:r>
            <a:r>
              <a:rPr lang="ru-RU" sz="2200" u="sng" dirty="0"/>
              <a:t>одним из сложных</a:t>
            </a:r>
            <a:r>
              <a:rPr lang="ru-RU" sz="2200" dirty="0"/>
              <a:t> разделов процесса разработки операционной системы. </a:t>
            </a:r>
          </a:p>
          <a:p>
            <a:pPr algn="just"/>
            <a:r>
              <a:rPr lang="ru-RU" sz="2200" i="1" dirty="0"/>
              <a:t>Сложность</a:t>
            </a:r>
            <a:r>
              <a:rPr lang="ru-RU" sz="2200" dirty="0"/>
              <a:t> объясняется наличием большого числа различных по типу и назначению устройств ввода/вывода, работу которых должна поддерживать операционная система. </a:t>
            </a:r>
            <a:endParaRPr lang="ru-RU" sz="2200" dirty="0" smtClean="0"/>
          </a:p>
          <a:p>
            <a:pPr algn="just"/>
            <a:endParaRPr lang="ru-RU" sz="2200" dirty="0" smtClean="0"/>
          </a:p>
        </p:txBody>
      </p:sp>
      <p:sp>
        <p:nvSpPr>
          <p:cNvPr id="5" name="Прямоугольник 4"/>
          <p:cNvSpPr/>
          <p:nvPr/>
        </p:nvSpPr>
        <p:spPr>
          <a:xfrm>
            <a:off x="3228485" y="3068960"/>
            <a:ext cx="2592289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Устройства ввода/вывода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00583" y="4062515"/>
            <a:ext cx="1882251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Алфавитно-цифровые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396075" y="4047958"/>
            <a:ext cx="231994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Акустические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5021213" y="4047958"/>
            <a:ext cx="401528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Графические</a:t>
            </a:r>
          </a:p>
        </p:txBody>
      </p:sp>
      <p:cxnSp>
        <p:nvCxnSpPr>
          <p:cNvPr id="9" name="Прямая соединительная линия 8"/>
          <p:cNvCxnSpPr>
            <a:stCxn id="5" idx="2"/>
            <a:endCxn id="11" idx="0"/>
          </p:cNvCxnSpPr>
          <p:nvPr/>
        </p:nvCxnSpPr>
        <p:spPr>
          <a:xfrm flipH="1">
            <a:off x="3556046" y="3645024"/>
            <a:ext cx="968584" cy="4029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stCxn id="5" idx="2"/>
            <a:endCxn id="12" idx="0"/>
          </p:cNvCxnSpPr>
          <p:nvPr/>
        </p:nvCxnSpPr>
        <p:spPr>
          <a:xfrm>
            <a:off x="4524630" y="3645024"/>
            <a:ext cx="2504225" cy="4029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5" idx="2"/>
            <a:endCxn id="10" idx="0"/>
          </p:cNvCxnSpPr>
          <p:nvPr/>
        </p:nvCxnSpPr>
        <p:spPr>
          <a:xfrm flipH="1">
            <a:off x="1241709" y="3645024"/>
            <a:ext cx="3282921" cy="4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4887174"/>
            <a:ext cx="2160240" cy="881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32040" y="4725144"/>
            <a:ext cx="4203189" cy="1872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96150" y="4799452"/>
            <a:ext cx="1010139" cy="893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16573" y="4865614"/>
            <a:ext cx="847530" cy="85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6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60548" y="5768649"/>
            <a:ext cx="891481" cy="828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0643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672" y="0"/>
            <a:ext cx="7524328" cy="692696"/>
          </a:xfrm>
        </p:spPr>
        <p:txBody>
          <a:bodyPr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Основная задача разработчиков </a:t>
            </a:r>
            <a:br>
              <a:rPr lang="ru-RU" dirty="0" smtClean="0">
                <a:solidFill>
                  <a:schemeClr val="bg1"/>
                </a:solidFill>
              </a:rPr>
            </a:br>
            <a:r>
              <a:rPr lang="ru-RU" dirty="0" smtClean="0">
                <a:solidFill>
                  <a:schemeClr val="bg1"/>
                </a:solidFill>
              </a:rPr>
              <a:t>подсистемы управления вводом/выводом</a:t>
            </a:r>
            <a:endParaRPr lang="ru-RU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8424" y="5805264"/>
            <a:ext cx="298376" cy="320899"/>
          </a:xfrm>
        </p:spPr>
        <p:txBody>
          <a:bodyPr>
            <a:normAutofit fontScale="55000" lnSpcReduction="20000"/>
          </a:bodyPr>
          <a:lstStyle/>
          <a:p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95536" y="1484784"/>
            <a:ext cx="8424936" cy="4301670"/>
          </a:xfrm>
        </p:spPr>
        <p:txBody>
          <a:bodyPr>
            <a:noAutofit/>
          </a:bodyPr>
          <a:lstStyle/>
          <a:p>
            <a:pPr algn="just"/>
            <a:r>
              <a:rPr lang="ru-RU" sz="2400" dirty="0" smtClean="0"/>
              <a:t>Разработчикам </a:t>
            </a:r>
            <a:r>
              <a:rPr lang="ru-RU" sz="2400" dirty="0"/>
              <a:t>операционной системы необходимо решить трудную </a:t>
            </a:r>
            <a:r>
              <a:rPr lang="ru-RU" sz="2400" dirty="0" smtClean="0"/>
              <a:t>задачу:</a:t>
            </a:r>
          </a:p>
          <a:p>
            <a:pPr algn="just"/>
            <a:r>
              <a:rPr lang="ru-RU" sz="2400" i="1" dirty="0" smtClean="0"/>
              <a:t>организовать </a:t>
            </a:r>
            <a:r>
              <a:rPr lang="ru-RU" sz="2400" b="1" i="1" dirty="0">
                <a:solidFill>
                  <a:srgbClr val="7030A0"/>
                </a:solidFill>
              </a:rPr>
              <a:t>эффективное управление различными внешними устройствами</a:t>
            </a:r>
            <a:r>
              <a:rPr lang="ru-RU" sz="2400" i="1" dirty="0" smtClean="0"/>
              <a:t>,</a:t>
            </a:r>
          </a:p>
          <a:p>
            <a:pPr algn="just"/>
            <a:r>
              <a:rPr lang="ru-RU" sz="2400" i="1" dirty="0" smtClean="0"/>
              <a:t> обеспечив </a:t>
            </a:r>
            <a:r>
              <a:rPr lang="ru-RU" sz="2400" b="1" i="1" dirty="0">
                <a:solidFill>
                  <a:srgbClr val="00B050"/>
                </a:solidFill>
              </a:rPr>
              <a:t>удобный и эффективный виртуальный интерфейс устройств ввода/вывода, дающий возможность прикладным программистам легко считывать или сохранять данные, не обращая внимания на особенности отдельных устройств и проблемы распределения устройств между выполняющимися процессами</a:t>
            </a:r>
            <a:r>
              <a:rPr lang="ru-RU" sz="2400" dirty="0"/>
              <a:t>. </a:t>
            </a:r>
            <a:endParaRPr lang="ru-RU" sz="2400" dirty="0" smtClean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9174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672" y="0"/>
            <a:ext cx="7524328" cy="476672"/>
          </a:xfrm>
        </p:spPr>
        <p:txBody>
          <a:bodyPr>
            <a:noAutofit/>
          </a:bodyPr>
          <a:lstStyle/>
          <a:p>
            <a:pPr algn="ctr"/>
            <a:r>
              <a:rPr lang="ru-RU" sz="2200" dirty="0">
                <a:solidFill>
                  <a:schemeClr val="bg1"/>
                </a:solidFill>
              </a:rPr>
              <a:t>Основные </a:t>
            </a:r>
            <a:r>
              <a:rPr lang="ru-RU" sz="2200" dirty="0" smtClean="0">
                <a:solidFill>
                  <a:schemeClr val="bg1"/>
                </a:solidFill>
              </a:rPr>
              <a:t>требования к подсистеме </a:t>
            </a:r>
            <a:r>
              <a:rPr lang="ru-RU" sz="2200" dirty="0">
                <a:solidFill>
                  <a:schemeClr val="bg1"/>
                </a:solidFill>
              </a:rPr>
              <a:t>ввода/вывода </a:t>
            </a:r>
            <a:endParaRPr lang="ru-RU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8424" y="5805264"/>
            <a:ext cx="298376" cy="320899"/>
          </a:xfrm>
        </p:spPr>
        <p:txBody>
          <a:bodyPr>
            <a:normAutofit fontScale="55000" lnSpcReduction="20000"/>
          </a:bodyPr>
          <a:lstStyle/>
          <a:p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71472" y="1000108"/>
            <a:ext cx="8001056" cy="22145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2000" b="1" dirty="0" smtClean="0"/>
              <a:t>Система ввода/вывода должна быть </a:t>
            </a:r>
            <a:r>
              <a:rPr lang="ru-RU" sz="2000" b="1" i="1" dirty="0" smtClean="0">
                <a:solidFill>
                  <a:srgbClr val="FFFF00"/>
                </a:solidFill>
              </a:rPr>
              <a:t>универсальной</a:t>
            </a:r>
            <a:r>
              <a:rPr lang="ru-RU" sz="2000" b="1" dirty="0" smtClean="0"/>
              <a:t>, объединяющей в одной модели все разнообразие внешних устройств от простой мыши и клавиатур до принтеров, графических дисплеев, дисковых накопителей и даже сетей. 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71472" y="3714752"/>
            <a:ext cx="8001056" cy="22145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dirty="0" smtClean="0"/>
              <a:t>Важно </a:t>
            </a:r>
            <a:r>
              <a:rPr lang="ru-RU" sz="2000" b="1" i="1" u="sng" dirty="0" smtClean="0">
                <a:solidFill>
                  <a:srgbClr val="FFFF00"/>
                </a:solidFill>
              </a:rPr>
              <a:t>обеспечить доступ к внешним устройствам для множества параллельно выполняющихся процессов</a:t>
            </a:r>
            <a:r>
              <a:rPr lang="ru-RU" sz="2000" b="1" dirty="0" smtClean="0"/>
              <a:t>, сведя к минимуму вероятность возникновения проблем, связанных с использованием последними устройств ввода/ вывода.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xmlns="" val="85529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7176" y="0"/>
            <a:ext cx="7416824" cy="692696"/>
          </a:xfrm>
        </p:spPr>
        <p:txBody>
          <a:bodyPr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Определяющий принцип при проектировании </a:t>
            </a:r>
            <a:br>
              <a:rPr lang="ru-RU" dirty="0" smtClean="0">
                <a:solidFill>
                  <a:schemeClr val="bg1"/>
                </a:solidFill>
              </a:rPr>
            </a:br>
            <a:r>
              <a:rPr lang="ru-RU" dirty="0" smtClean="0">
                <a:solidFill>
                  <a:schemeClr val="bg1"/>
                </a:solidFill>
              </a:rPr>
              <a:t>подсистемы управления вводом/выводом</a:t>
            </a:r>
            <a:endParaRPr lang="ru-RU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539552" y="2420888"/>
            <a:ext cx="8219256" cy="22322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Любые операции по управлению вводом/выводом объявляются </a:t>
            </a:r>
            <a:r>
              <a:rPr lang="ru-RU" u="sng" dirty="0">
                <a:solidFill>
                  <a:srgbClr val="DE0000"/>
                </a:solidFill>
              </a:rPr>
              <a:t>привилегированными</a:t>
            </a:r>
            <a:r>
              <a:rPr lang="ru-RU" dirty="0"/>
              <a:t> и </a:t>
            </a:r>
            <a:r>
              <a:rPr lang="ru-RU" u="sng" dirty="0"/>
              <a:t>могут </a:t>
            </a:r>
            <a:r>
              <a:rPr lang="ru-RU" u="sng" dirty="0">
                <a:solidFill>
                  <a:srgbClr val="DE0000"/>
                </a:solidFill>
              </a:rPr>
              <a:t>выполняться только кодом самой операционной системы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011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7176" y="0"/>
            <a:ext cx="7416824" cy="692696"/>
          </a:xfrm>
        </p:spPr>
        <p:txBody>
          <a:bodyPr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Почему вводом-выводом должна управлять </a:t>
            </a:r>
            <a:br>
              <a:rPr lang="ru-RU" dirty="0" smtClean="0">
                <a:solidFill>
                  <a:schemeClr val="bg1"/>
                </a:solidFill>
              </a:rPr>
            </a:br>
            <a:r>
              <a:rPr lang="ru-RU" dirty="0" smtClean="0">
                <a:solidFill>
                  <a:schemeClr val="bg1"/>
                </a:solidFill>
              </a:rPr>
              <a:t>операционная система</a:t>
            </a:r>
            <a:endParaRPr lang="ru-RU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67011" y="908720"/>
            <a:ext cx="8453461" cy="13681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ru-RU" sz="2800" dirty="0" smtClean="0">
                <a:solidFill>
                  <a:schemeClr val="tx1"/>
                </a:solidFill>
              </a:rPr>
              <a:t>Причины</a:t>
            </a:r>
            <a:r>
              <a:rPr lang="ru-RU" sz="2800" dirty="0">
                <a:solidFill>
                  <a:schemeClr val="tx1"/>
                </a:solidFill>
              </a:rPr>
              <a:t>, по которым нельзя разрешать каждой </a:t>
            </a:r>
            <a:r>
              <a:rPr lang="ru-RU" sz="2800" dirty="0" smtClean="0">
                <a:solidFill>
                  <a:schemeClr val="tx1"/>
                </a:solidFill>
              </a:rPr>
              <a:t>отдельной </a:t>
            </a:r>
            <a:r>
              <a:rPr lang="ru-RU" sz="2800" dirty="0">
                <a:solidFill>
                  <a:schemeClr val="tx1"/>
                </a:solidFill>
              </a:rPr>
              <a:t>пользовательской программе обращаться к внешним устройствам </a:t>
            </a:r>
            <a:r>
              <a:rPr lang="ru-RU" sz="2800" dirty="0" smtClean="0">
                <a:solidFill>
                  <a:schemeClr val="tx1"/>
                </a:solidFill>
              </a:rPr>
              <a:t>непосредственно</a:t>
            </a:r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67011" y="2492896"/>
            <a:ext cx="3456384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i="1" dirty="0"/>
              <a:t>Необходимость избавить программы ввода-вывода от </a:t>
            </a:r>
            <a:r>
              <a:rPr lang="ru-RU" i="1" dirty="0" smtClean="0"/>
              <a:t>ошибок.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883061" y="3789040"/>
            <a:ext cx="3456384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i="1" dirty="0"/>
              <a:t>Необходимость разрешать возможные конфликты в доступе к устройствам </a:t>
            </a:r>
            <a:r>
              <a:rPr lang="ru-RU" i="1" dirty="0" smtClean="0"/>
              <a:t>ввода-вывода</a:t>
            </a:r>
            <a:r>
              <a:rPr lang="ru-RU" i="1" dirty="0"/>
              <a:t>.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5508104" y="5151834"/>
            <a:ext cx="3456384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i="1" dirty="0" smtClean="0"/>
              <a:t>Необходимость </a:t>
            </a:r>
            <a:r>
              <a:rPr lang="ru-RU" i="1" dirty="0"/>
              <a:t>увеличить эффективность использования ресурсов ввода-вывода</a:t>
            </a:r>
            <a:r>
              <a:rPr lang="ru-RU" dirty="0"/>
              <a:t>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8012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7176" y="0"/>
            <a:ext cx="7416824" cy="692696"/>
          </a:xfrm>
        </p:spPr>
        <p:txBody>
          <a:bodyPr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Почему вводом-выводом должна управлять </a:t>
            </a:r>
            <a:br>
              <a:rPr lang="ru-RU" dirty="0" smtClean="0">
                <a:solidFill>
                  <a:schemeClr val="bg1"/>
                </a:solidFill>
              </a:rPr>
            </a:br>
            <a:r>
              <a:rPr lang="ru-RU" dirty="0" smtClean="0">
                <a:solidFill>
                  <a:schemeClr val="bg1"/>
                </a:solidFill>
              </a:rPr>
              <a:t>операционная система</a:t>
            </a:r>
            <a:endParaRPr lang="ru-RU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9513" y="2143311"/>
            <a:ext cx="2880319" cy="18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i="1" dirty="0"/>
              <a:t>Необходимость избавить программы ввода-вывода от ошибок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3275856" y="1196752"/>
            <a:ext cx="554461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Ошибки в </a:t>
            </a:r>
            <a:r>
              <a:rPr lang="ru-RU" dirty="0" smtClean="0"/>
              <a:t>программах </a:t>
            </a:r>
            <a:r>
              <a:rPr lang="ru-RU" dirty="0"/>
              <a:t>ввода-вывода могут привести к краху всех вычислительных </a:t>
            </a:r>
            <a:r>
              <a:rPr lang="ru-RU" dirty="0" smtClean="0"/>
              <a:t>процессов</a:t>
            </a:r>
            <a:r>
              <a:rPr lang="ru-RU" dirty="0"/>
              <a:t>, </a:t>
            </a:r>
            <a:r>
              <a:rPr lang="ru-RU" dirty="0" smtClean="0"/>
              <a:t>так как </a:t>
            </a:r>
            <a:r>
              <a:rPr lang="ru-RU" dirty="0"/>
              <a:t>часть операций ввода-вывода требуются самой операционной системе. 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ряде операционных систем системный ввод-вывод имеет существенно более высокие привилегии, чем ввод-вывод задач пользователя. </a:t>
            </a:r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Поэтому </a:t>
            </a:r>
            <a:r>
              <a:rPr lang="ru-RU" dirty="0"/>
              <a:t>системный код, управляющий операциями ввода-вывода, очень тщательно отлаживается и оптимизируется для повышения надежности вычислений и эффективности использования оборудования.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5240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7176" y="0"/>
            <a:ext cx="7416824" cy="692696"/>
          </a:xfrm>
        </p:spPr>
        <p:txBody>
          <a:bodyPr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Почему вводом-выводом должна управлять </a:t>
            </a:r>
            <a:br>
              <a:rPr lang="ru-RU" dirty="0" smtClean="0">
                <a:solidFill>
                  <a:schemeClr val="bg1"/>
                </a:solidFill>
              </a:rPr>
            </a:br>
            <a:r>
              <a:rPr lang="ru-RU" dirty="0" smtClean="0">
                <a:solidFill>
                  <a:schemeClr val="bg1"/>
                </a:solidFill>
              </a:rPr>
              <a:t>операционная система</a:t>
            </a:r>
            <a:endParaRPr lang="ru-RU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9513" y="764704"/>
            <a:ext cx="2808311" cy="12961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i="1" dirty="0"/>
              <a:t>Необходимость разрешать возможные конфликты в доступе к устройствам ввода-вывода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9513" y="4998661"/>
            <a:ext cx="87129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dirty="0" smtClean="0"/>
              <a:t>Еще </a:t>
            </a:r>
            <a:r>
              <a:rPr lang="ru-RU" sz="1600" dirty="0"/>
              <a:t>один пример: одной программе необходимо </a:t>
            </a:r>
            <a:r>
              <a:rPr lang="ru-RU" sz="1600" dirty="0" smtClean="0"/>
              <a:t>прочитать </a:t>
            </a:r>
            <a:r>
              <a:rPr lang="ru-RU" sz="1600" dirty="0"/>
              <a:t>данные с одного сектора магнитного диска, а другой - записать </a:t>
            </a:r>
            <a:r>
              <a:rPr lang="ru-RU" sz="1600" dirty="0" smtClean="0"/>
              <a:t>результаты </a:t>
            </a:r>
            <a:r>
              <a:rPr lang="ru-RU" sz="1600" dirty="0"/>
              <a:t>в другой сектор того же накопителя. Если операции ввода-вывода не </a:t>
            </a:r>
            <a:r>
              <a:rPr lang="ru-RU" sz="1600" dirty="0" smtClean="0"/>
              <a:t>будут </a:t>
            </a:r>
            <a:r>
              <a:rPr lang="ru-RU" sz="1600" dirty="0"/>
              <a:t>отслеживаться каким-то третьим (внешним) процессом-арбитром, то после позиционирования магнитной головки для первой задачи может тут же прийти команда позиционирования головки для второй задачи, и обе операции ввода-вывода не смогут выполниться корректно.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203848" y="764704"/>
            <a:ext cx="122413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Задача 1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380312" y="833332"/>
            <a:ext cx="122413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Задача 2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20047" y="692697"/>
            <a:ext cx="1712193" cy="1348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Стрелка вправо 9"/>
          <p:cNvSpPr/>
          <p:nvPr/>
        </p:nvSpPr>
        <p:spPr>
          <a:xfrm>
            <a:off x="4443983" y="1016732"/>
            <a:ext cx="576064" cy="137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71406" y="2204864"/>
            <a:ext cx="464347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Пусть две параллельно выполняющиеся программы пытаются вывести на печать результаты своей работы. </a:t>
            </a:r>
            <a:endParaRPr lang="ru-RU" sz="1600" dirty="0" smtClean="0"/>
          </a:p>
          <a:p>
            <a:r>
              <a:rPr lang="ru-RU" sz="1600" dirty="0" smtClean="0"/>
              <a:t>Если </a:t>
            </a:r>
            <a:r>
              <a:rPr lang="ru-RU" sz="1600" dirty="0"/>
              <a:t>не предусмотреть внешнего управления устройством печати, то в результате мы можем получить абсолютно нечитаемый текст, так как каждая программа будет время от </a:t>
            </a:r>
            <a:r>
              <a:rPr lang="ru-RU" sz="1600" dirty="0" smtClean="0"/>
              <a:t>времени </a:t>
            </a:r>
            <a:r>
              <a:rPr lang="ru-RU" sz="1600" dirty="0"/>
              <a:t>выводить свои данные, перемежающиеся с данными от другой программы. </a:t>
            </a:r>
          </a:p>
        </p:txBody>
      </p:sp>
      <p:sp>
        <p:nvSpPr>
          <p:cNvPr id="13" name="Стрелка вправо 12"/>
          <p:cNvSpPr/>
          <p:nvPr/>
        </p:nvSpPr>
        <p:spPr>
          <a:xfrm rot="10800000">
            <a:off x="6732240" y="1016731"/>
            <a:ext cx="648072" cy="137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57292" y="2071678"/>
            <a:ext cx="4315302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32449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7176" y="0"/>
            <a:ext cx="7416824" cy="692696"/>
          </a:xfrm>
        </p:spPr>
        <p:txBody>
          <a:bodyPr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Почему вводом-выводом должна управлять </a:t>
            </a:r>
            <a:br>
              <a:rPr lang="ru-RU" dirty="0" smtClean="0">
                <a:solidFill>
                  <a:schemeClr val="bg1"/>
                </a:solidFill>
              </a:rPr>
            </a:br>
            <a:r>
              <a:rPr lang="ru-RU" dirty="0" smtClean="0">
                <a:solidFill>
                  <a:schemeClr val="bg1"/>
                </a:solidFill>
              </a:rPr>
              <a:t>операционная система</a:t>
            </a:r>
            <a:endParaRPr lang="ru-RU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48309" y="2178112"/>
            <a:ext cx="2880319" cy="18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i="1" dirty="0"/>
              <a:t>Необходимость увеличить эффективность использования ресурсов ввода-вывода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3635896" y="1231553"/>
            <a:ext cx="525658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Например</a:t>
            </a:r>
            <a:r>
              <a:rPr lang="ru-RU" dirty="0"/>
              <a:t>, у накопителя на магнитных дисках время подвода головки </a:t>
            </a:r>
            <a:r>
              <a:rPr lang="ru-RU" dirty="0" smtClean="0"/>
              <a:t>чтения/записи </a:t>
            </a:r>
            <a:r>
              <a:rPr lang="ru-RU" dirty="0"/>
              <a:t>к необходимой дорожке и время обращения к определенному сектору могут значительно (до тысячи раз) превышать время пересылки данных.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В результате</a:t>
            </a:r>
            <a:r>
              <a:rPr lang="ru-RU" dirty="0"/>
              <a:t>, если задачи по очереди обращаются к цилиндрам, далеко отстоящим друг от друга, то полезная работа, выполняемая накопителем, может быть </a:t>
            </a:r>
            <a:r>
              <a:rPr lang="ru-RU" dirty="0" smtClean="0"/>
              <a:t>существенно </a:t>
            </a:r>
            <a:r>
              <a:rPr lang="ru-RU" dirty="0"/>
              <a:t>снижена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smtClean="0"/>
              <a:t>Операционная система может упорядочить проведение операций ввода-вывода с целью уменьшения времени перемещений головок чтения/записи.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5064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672" y="0"/>
            <a:ext cx="7416824" cy="692696"/>
          </a:xfrm>
        </p:spPr>
        <p:txBody>
          <a:bodyPr>
            <a:noAutofit/>
          </a:bodyPr>
          <a:lstStyle/>
          <a:p>
            <a:pPr algn="ctr"/>
            <a:r>
              <a:rPr lang="ru-RU" sz="2200" dirty="0" smtClean="0">
                <a:solidFill>
                  <a:schemeClr val="bg1"/>
                </a:solidFill>
              </a:rPr>
              <a:t>Поддержка принципа  «ввод/вывод – работа ОС»  наличие двух режимов работы</a:t>
            </a:r>
            <a:endParaRPr lang="ru-RU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14663030"/>
              </p:ext>
            </p:extLst>
          </p:nvPr>
        </p:nvGraphicFramePr>
        <p:xfrm>
          <a:off x="611560" y="1340768"/>
          <a:ext cx="7992888" cy="4752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6444"/>
                <a:gridCol w="3996444"/>
              </a:tblGrid>
              <a:tr h="158417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/>
                        <a:t>Режим пользователя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/>
                        <a:t>Режим супервизора /привилегированный режим </a:t>
                      </a:r>
                      <a:br>
                        <a:rPr lang="ru-RU" sz="2000" dirty="0" smtClean="0"/>
                      </a:br>
                      <a:r>
                        <a:rPr lang="ru-RU" sz="2000" dirty="0" smtClean="0"/>
                        <a:t>/режим ядра</a:t>
                      </a:r>
                      <a:endParaRPr lang="ru-RU" sz="2000" dirty="0"/>
                    </a:p>
                  </a:txBody>
                  <a:tcPr/>
                </a:tc>
              </a:tr>
              <a:tr h="1108923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/>
                        <a:t>выполнение команд ввода/вывода запрещено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/>
                        <a:t>выполнение команд ввода/вывода разрешено</a:t>
                      </a:r>
                      <a:endParaRPr lang="ru-RU" sz="2000" dirty="0"/>
                    </a:p>
                  </a:txBody>
                  <a:tcPr/>
                </a:tc>
              </a:tr>
              <a:tr h="2059429">
                <a:tc gridSpan="2">
                  <a:txBody>
                    <a:bodyPr/>
                    <a:lstStyle/>
                    <a:p>
                      <a:pPr algn="ctr"/>
                      <a:endParaRPr lang="ru-RU" sz="2000" dirty="0" smtClean="0"/>
                    </a:p>
                    <a:p>
                      <a:pPr algn="ctr"/>
                      <a:r>
                        <a:rPr lang="ru-RU" sz="2000" dirty="0" smtClean="0"/>
                        <a:t>Обращение к командам ввода/вывода в прикладных программах вызывает прерывание, и управление через механизм прерываний передается коду операционной системы</a:t>
                      </a:r>
                      <a:endParaRPr lang="ru-RU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38050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907704" y="116632"/>
            <a:ext cx="6779096" cy="43204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chemeClr val="bg1"/>
                </a:solidFill>
              </a:rPr>
              <a:t>Режимы ввода/вывода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115616" y="2060848"/>
            <a:ext cx="727280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Режим обмена с опросом готовности устройства </a:t>
            </a:r>
            <a:r>
              <a:rPr lang="ru-RU" sz="2400" dirty="0" smtClean="0"/>
              <a:t>ввода/вывода</a:t>
            </a:r>
          </a:p>
          <a:p>
            <a:endParaRPr lang="ru-RU" sz="2400" dirty="0"/>
          </a:p>
          <a:p>
            <a:r>
              <a:rPr lang="ru-RU" sz="2400" dirty="0"/>
              <a:t>Режим обмена с прерываниями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7728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91680" y="0"/>
            <a:ext cx="7272808" cy="641835"/>
          </a:xfrm>
        </p:spPr>
        <p:txBody>
          <a:bodyPr/>
          <a:lstStyle/>
          <a:p>
            <a:r>
              <a:rPr lang="ru-RU" sz="2200" dirty="0" smtClean="0">
                <a:solidFill>
                  <a:schemeClr val="bg1"/>
                </a:solidFill>
              </a:rPr>
              <a:t>Управление вводом/выводом с опросом готовности (Синхронный режим ввода-вывода)</a:t>
            </a:r>
            <a:endParaRPr lang="ru-RU" sz="2200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764704"/>
            <a:ext cx="5544616" cy="2839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07504" y="3767449"/>
            <a:ext cx="8928992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После выполнения команды внешнее устройство выдает </a:t>
            </a:r>
            <a:r>
              <a:rPr lang="ru-RU" sz="1400" i="1" dirty="0">
                <a:solidFill>
                  <a:srgbClr val="0070C0"/>
                </a:solidFill>
              </a:rPr>
              <a:t>сигнал готовности</a:t>
            </a:r>
            <a:r>
              <a:rPr lang="ru-RU" sz="1400" dirty="0"/>
              <a:t>, который сообщает процессору о том, что можно передавать очередную команду для продолжения обмена данными. </a:t>
            </a:r>
            <a:endParaRPr lang="ru-RU" sz="1400" dirty="0" smtClean="0"/>
          </a:p>
          <a:p>
            <a:r>
              <a:rPr lang="ru-RU" sz="1400" dirty="0" smtClean="0"/>
              <a:t/>
            </a:r>
            <a:br>
              <a:rPr lang="ru-RU" sz="1400" dirty="0" smtClean="0"/>
            </a:br>
            <a:r>
              <a:rPr lang="ru-RU" sz="1400" dirty="0" smtClean="0"/>
              <a:t>Из-за </a:t>
            </a:r>
            <a:r>
              <a:rPr lang="ru-RU" sz="1400" dirty="0"/>
              <a:t>того, что быстродействие внешнего устройства на несколько порядков ниже быстродействия центрального процессора, последнему приходится долго ожидать сигнала готовности, постоянно опрашивая соответствующую линию интерфейса на наличие или отсутствие этого сигнала. </a:t>
            </a:r>
            <a:r>
              <a:rPr lang="ru-RU" sz="1400" dirty="0" smtClean="0"/>
              <a:t/>
            </a:r>
            <a:br>
              <a:rPr lang="ru-RU" sz="1400" dirty="0" smtClean="0"/>
            </a:br>
            <a:r>
              <a:rPr lang="ru-RU" sz="1400" dirty="0" smtClean="0"/>
              <a:t>Длительное </a:t>
            </a:r>
            <a:r>
              <a:rPr lang="ru-RU" sz="1400" dirty="0"/>
              <a:t>ожидание связано с тем, что нет смысла отправлять внешнему устройству очередную команду, не дождавшись ответа об исполнении предыдущей команды. </a:t>
            </a:r>
            <a:r>
              <a:rPr lang="ru-RU" sz="1400" dirty="0" smtClean="0"/>
              <a:t/>
            </a:r>
            <a:br>
              <a:rPr lang="ru-RU" sz="1400" dirty="0" smtClean="0"/>
            </a:br>
            <a:r>
              <a:rPr lang="ru-RU" sz="1400" dirty="0" smtClean="0"/>
              <a:t/>
            </a:r>
            <a:br>
              <a:rPr lang="ru-RU" sz="1400" dirty="0" smtClean="0"/>
            </a:br>
            <a:r>
              <a:rPr lang="ru-RU" sz="1400" dirty="0" smtClean="0"/>
              <a:t>В </a:t>
            </a:r>
            <a:r>
              <a:rPr lang="ru-RU" sz="1400" dirty="0"/>
              <a:t>режиме опроса готовности процессор, обрабатывая код драйвера, управляющего процессом обмена данными с ВУ, как раз и выполняет в цикле команду </a:t>
            </a:r>
            <a:r>
              <a:rPr lang="ru-RU" sz="1400" dirty="0" smtClean="0"/>
              <a:t>«</a:t>
            </a:r>
            <a:r>
              <a:rPr lang="ru-RU" sz="1400" i="1" dirty="0" smtClean="0">
                <a:solidFill>
                  <a:srgbClr val="00B050"/>
                </a:solidFill>
              </a:rPr>
              <a:t>Проверить </a:t>
            </a:r>
            <a:r>
              <a:rPr lang="ru-RU" sz="1400" i="1" dirty="0">
                <a:solidFill>
                  <a:srgbClr val="00B050"/>
                </a:solidFill>
              </a:rPr>
              <a:t>наличие сигнала готовности</a:t>
            </a:r>
            <a:r>
              <a:rPr lang="ru-RU" sz="1400" dirty="0"/>
              <a:t>», </a:t>
            </a:r>
            <a:r>
              <a:rPr lang="ru-RU" sz="1400" dirty="0">
                <a:solidFill>
                  <a:srgbClr val="FF0000"/>
                </a:solidFill>
              </a:rPr>
              <a:t>нерационально расходуя процессорное время</a:t>
            </a:r>
            <a:r>
              <a:rPr lang="ru-RU" sz="1400" dirty="0"/>
              <a:t>, которое можно было бы потратить на решение других задач.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868144" y="764704"/>
            <a:ext cx="316835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/>
              <a:t>Пусть центральный процессор посылает устройству управления команду, требующую, чтобы определенное внешнее устройство выполнило некоторое действие. </a:t>
            </a:r>
            <a:r>
              <a:rPr lang="ru-RU" sz="1400" dirty="0" smtClean="0"/>
              <a:t/>
            </a:r>
            <a:br>
              <a:rPr lang="ru-RU" sz="1400" dirty="0" smtClean="0"/>
            </a:br>
            <a:r>
              <a:rPr lang="ru-RU" sz="1400" dirty="0" smtClean="0"/>
              <a:t/>
            </a:r>
            <a:br>
              <a:rPr lang="ru-RU" sz="1400" dirty="0" smtClean="0"/>
            </a:br>
            <a:r>
              <a:rPr lang="ru-RU" sz="1400" dirty="0" smtClean="0"/>
              <a:t>Устройство </a:t>
            </a:r>
            <a:r>
              <a:rPr lang="ru-RU" sz="1400" dirty="0"/>
              <a:t>управления внешним устройством (УУВУ) исполняет команду, преобразуя сигналы, понятные ему и центральному процессору, в сигналы, понятные внешнему устройству.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758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91680" y="0"/>
            <a:ext cx="7272808" cy="641835"/>
          </a:xfrm>
        </p:spPr>
        <p:txBody>
          <a:bodyPr/>
          <a:lstStyle/>
          <a:p>
            <a:r>
              <a:rPr lang="ru-RU" sz="2200" dirty="0" smtClean="0">
                <a:solidFill>
                  <a:schemeClr val="bg1"/>
                </a:solidFill>
              </a:rPr>
              <a:t>Управление вводом/выводом по прерываниям (Асинхронный режим ввода-вывода)</a:t>
            </a:r>
            <a:endParaRPr lang="ru-RU" sz="2200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3767449"/>
            <a:ext cx="8928992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/>
              <a:t>Для организации оповещения внешнее устройство через </a:t>
            </a:r>
            <a:r>
              <a:rPr lang="ru-RU" sz="1400" dirty="0"/>
              <a:t>систему прерываний выдает запрос на прерывание работы процессора. Именно такой запрос и является для </a:t>
            </a:r>
            <a:r>
              <a:rPr lang="ru-RU" sz="1400" dirty="0" smtClean="0"/>
              <a:t>центрального процессора </a:t>
            </a:r>
            <a:r>
              <a:rPr lang="ru-RU" sz="1400" dirty="0"/>
              <a:t>сигналом о выполнении операции ввода/вывода.</a:t>
            </a:r>
          </a:p>
          <a:p>
            <a:pPr algn="just"/>
            <a:r>
              <a:rPr lang="ru-RU" sz="1400" dirty="0" smtClean="0"/>
              <a:t>Для </a:t>
            </a:r>
            <a:r>
              <a:rPr lang="ru-RU" sz="1400" dirty="0"/>
              <a:t>того чтобы процессор, выдав внешнему устройству очередную команду на прием или передачу данных, не потерял этого устройства после переключения на выполнение других программ, может быть запущен отсчет времени, в течение которого устройство обязательно должно выполнить команду и прислать сигнал запроса на прерывание. </a:t>
            </a:r>
            <a:r>
              <a:rPr lang="ru-RU" sz="1400" dirty="0" smtClean="0"/>
              <a:t>Максимальный </a:t>
            </a:r>
            <a:r>
              <a:rPr lang="ru-RU" sz="1400" dirty="0"/>
              <a:t>интервал времени, в течение которого внешнее устройство или его контроллер должен выдать сигнал запроса на прерывание, принято называть </a:t>
            </a:r>
            <a:r>
              <a:rPr lang="ru-RU" sz="1400" b="1" i="1" dirty="0">
                <a:solidFill>
                  <a:srgbClr val="B71327"/>
                </a:solidFill>
              </a:rPr>
              <a:t>тайм-аутом</a:t>
            </a:r>
            <a:r>
              <a:rPr lang="ru-RU" sz="1400" dirty="0"/>
              <a:t>.</a:t>
            </a:r>
            <a:endParaRPr lang="ru-RU" sz="1400" dirty="0" smtClean="0"/>
          </a:p>
          <a:p>
            <a:pPr algn="just"/>
            <a:r>
              <a:rPr lang="ru-RU" sz="1400" dirty="0" smtClean="0"/>
              <a:t>Если </a:t>
            </a:r>
            <a:r>
              <a:rPr lang="ru-RU" sz="1400" dirty="0"/>
              <a:t>после выдачи устройству очередной команды прошло больше времени, чем было указано в тайм-ауте, а устройство так и не ответило, то делается вывод о том, что связь с устройством утеряна и им больше невозможно управлять. Задача, запросившая утерянную операцию ввода/вывода, получают соответствующее диагностическое сообщение.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868144" y="699936"/>
            <a:ext cx="316835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/>
              <a:t>Центральный процессор посылает </a:t>
            </a:r>
            <a:r>
              <a:rPr lang="ru-RU" sz="1400" dirty="0" smtClean="0"/>
              <a:t>внешнему устройству </a:t>
            </a:r>
            <a:r>
              <a:rPr lang="ru-RU" sz="1400" dirty="0"/>
              <a:t>команду, требующую, чтобы определенное внешнее </a:t>
            </a:r>
            <a:r>
              <a:rPr lang="ru-RU" sz="1400" dirty="0" smtClean="0"/>
              <a:t>устройство </a:t>
            </a:r>
            <a:r>
              <a:rPr lang="ru-RU" sz="1400" dirty="0"/>
              <a:t>выполнило некоторое действие, и на время забывает об этом устройстве, перейдя на обработку другой программы</a:t>
            </a:r>
            <a:r>
              <a:rPr lang="ru-RU" sz="1400" dirty="0" smtClean="0"/>
              <a:t>.</a:t>
            </a:r>
          </a:p>
          <a:p>
            <a:pPr algn="just"/>
            <a:endParaRPr lang="ru-RU" sz="1400" dirty="0" smtClean="0"/>
          </a:p>
          <a:p>
            <a:pPr algn="just"/>
            <a:r>
              <a:rPr lang="ru-RU" sz="1400" dirty="0" smtClean="0"/>
              <a:t>Выполнив </a:t>
            </a:r>
            <a:r>
              <a:rPr lang="ru-RU" sz="1400" dirty="0"/>
              <a:t>операцию ввода/вывода, внешнее устройство </a:t>
            </a:r>
            <a:r>
              <a:rPr lang="ru-RU" sz="1400" i="1" dirty="0" smtClean="0">
                <a:solidFill>
                  <a:srgbClr val="00B050"/>
                </a:solidFill>
              </a:rPr>
              <a:t>должно оповестить</a:t>
            </a:r>
            <a:r>
              <a:rPr lang="ru-RU" sz="1400" dirty="0" smtClean="0"/>
              <a:t> процессор об этом, однако напрямую оно к процессору обратиться не может.</a:t>
            </a:r>
            <a:endParaRPr lang="ru-RU" sz="14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978" y="764704"/>
            <a:ext cx="5727158" cy="2979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750478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91680" y="0"/>
            <a:ext cx="7272808" cy="641835"/>
          </a:xfrm>
        </p:spPr>
        <p:txBody>
          <a:bodyPr/>
          <a:lstStyle/>
          <a:p>
            <a:r>
              <a:rPr lang="ru-RU" sz="2200" dirty="0" smtClean="0">
                <a:solidFill>
                  <a:schemeClr val="bg1"/>
                </a:solidFill>
              </a:rPr>
              <a:t>Управление вводом/выводом по прерываниям (Асинхронный режим ввода-вывода)</a:t>
            </a:r>
            <a:endParaRPr lang="ru-RU" sz="2200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3928988"/>
            <a:ext cx="892899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/>
              <a:t>В описанном выше случае центральный процессор хотя и получает возможность заниматься основной работой – вычислениями, но он всё-таки вынужден время от времени прерывать свою работу, чтобы отправить внешнему устройству очередную команду на ввод-вывод или проанализировать сложившуюся во время выполнения очередной команды ситуацию. С ростом числа внешних устройств, задействованных в работе приложений, таких отвлечений процессора становится всё больше и больше и эффективность его работы значительно снижается.</a:t>
            </a:r>
            <a:endParaRPr lang="ru-RU" sz="16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978" y="764704"/>
            <a:ext cx="5727158" cy="2979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107504" y="2636912"/>
            <a:ext cx="1224136" cy="1008112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50478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91680" y="0"/>
            <a:ext cx="7272808" cy="641835"/>
          </a:xfrm>
        </p:spPr>
        <p:txBody>
          <a:bodyPr/>
          <a:lstStyle/>
          <a:p>
            <a:r>
              <a:rPr lang="ru-RU" sz="2000" dirty="0" smtClean="0">
                <a:solidFill>
                  <a:schemeClr val="bg1"/>
                </a:solidFill>
              </a:rPr>
              <a:t>Управление вводом/выводом по прерываниям </a:t>
            </a:r>
            <a:br>
              <a:rPr lang="ru-RU" sz="2000" dirty="0" smtClean="0">
                <a:solidFill>
                  <a:schemeClr val="bg1"/>
                </a:solidFill>
              </a:rPr>
            </a:br>
            <a:r>
              <a:rPr lang="ru-RU" sz="2000" dirty="0" smtClean="0">
                <a:solidFill>
                  <a:schemeClr val="bg1"/>
                </a:solidFill>
              </a:rPr>
              <a:t>с использованием каналов вода-вывода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3789040"/>
            <a:ext cx="892899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/>
              <a:t>Операция ввода-вывода или </a:t>
            </a:r>
            <a:r>
              <a:rPr lang="ru-RU" sz="1600" i="1" dirty="0" smtClean="0">
                <a:solidFill>
                  <a:schemeClr val="accent6">
                    <a:lumMod val="75000"/>
                  </a:schemeClr>
                </a:solidFill>
              </a:rPr>
              <a:t>канальная программа</a:t>
            </a:r>
            <a:r>
              <a:rPr lang="ru-RU" sz="1600" i="1" dirty="0" smtClean="0"/>
              <a:t> </a:t>
            </a:r>
            <a:r>
              <a:rPr lang="ru-RU" sz="1600" dirty="0" smtClean="0"/>
              <a:t>состоит из отдельных</a:t>
            </a:r>
            <a:r>
              <a:rPr lang="ru-RU" sz="1600" i="1" dirty="0" smtClean="0"/>
              <a:t> </a:t>
            </a:r>
            <a:r>
              <a:rPr lang="ru-RU" sz="1600" i="1" dirty="0" smtClean="0">
                <a:solidFill>
                  <a:schemeClr val="accent6">
                    <a:lumMod val="75000"/>
                  </a:schemeClr>
                </a:solidFill>
              </a:rPr>
              <a:t>канальных команд</a:t>
            </a:r>
            <a:r>
              <a:rPr lang="ru-RU" sz="1600" i="1" dirty="0" smtClean="0"/>
              <a:t>, </a:t>
            </a:r>
            <a:r>
              <a:rPr lang="ru-RU" sz="1600" dirty="0" smtClean="0"/>
              <a:t>которые канал поручает выполнять внешнему устройству</a:t>
            </a:r>
            <a:r>
              <a:rPr lang="ru-RU" sz="1600" i="1" dirty="0" smtClean="0"/>
              <a:t>. </a:t>
            </a:r>
            <a:r>
              <a:rPr lang="ru-RU" sz="1600" dirty="0" smtClean="0"/>
              <a:t>Канал контролирует результат выполнения каждой такой команды, требуя от устройств ввода-вывода передачи служебной информации о состоянии обмена. </a:t>
            </a:r>
          </a:p>
          <a:p>
            <a:pPr algn="just"/>
            <a:r>
              <a:rPr lang="ru-RU" sz="1600" dirty="0" smtClean="0"/>
              <a:t>При завершении канальной программы или при возникновении ситуации, не позволяющей выполнить ту или иную канальную команду, канал ввода-вывода через систему прерываний информирует об этом центральный процессор. </a:t>
            </a:r>
            <a:endParaRPr lang="en-US" sz="1600" dirty="0" smtClean="0"/>
          </a:p>
          <a:p>
            <a:pPr algn="just"/>
            <a:r>
              <a:rPr lang="ru-RU" sz="1600" dirty="0" smtClean="0"/>
              <a:t>При такой организации ввода-вывода роль центрального процессора состоит в инициализации операции ввода-вывода и получении сообщений от канала ввода-вывода о её завершении или аварийном прекращении.</a:t>
            </a:r>
            <a:endParaRPr lang="ru-RU" sz="1600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5155948" y="640903"/>
            <a:ext cx="388054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/>
              <a:t>Для решения указанной проблемы было предложено включить в состав вычислительной системы специализированные процессоры - </a:t>
            </a:r>
            <a:r>
              <a:rPr lang="ru-RU" sz="1600" i="1" dirty="0" smtClean="0">
                <a:solidFill>
                  <a:schemeClr val="accent6">
                    <a:lumMod val="75000"/>
                  </a:schemeClr>
                </a:solidFill>
              </a:rPr>
              <a:t>каналы ввода-вывода</a:t>
            </a:r>
            <a:r>
              <a:rPr lang="ru-RU" sz="1600" dirty="0" smtClean="0"/>
              <a:t>, на которые была возложена задача управления работой внешних устройств</a:t>
            </a:r>
            <a:r>
              <a:rPr lang="ru-RU" sz="1600" dirty="0" smtClean="0"/>
              <a:t>.</a:t>
            </a:r>
            <a:endParaRPr lang="en-US" sz="1600" dirty="0" smtClean="0"/>
          </a:p>
          <a:p>
            <a:pPr algn="just"/>
            <a:endParaRPr lang="en-US" sz="1600" dirty="0" smtClean="0"/>
          </a:p>
          <a:p>
            <a:pPr algn="just"/>
            <a:r>
              <a:rPr lang="ru-RU" sz="1600" dirty="0" smtClean="0"/>
              <a:t>Канал </a:t>
            </a:r>
            <a:r>
              <a:rPr lang="ru-RU" sz="1600" dirty="0" smtClean="0"/>
              <a:t>ввода-вывода взаимодействует с устройством ввода-вывода на протяжении выполнения </a:t>
            </a:r>
            <a:r>
              <a:rPr lang="ru-RU" sz="1600" i="1" dirty="0" smtClean="0">
                <a:solidFill>
                  <a:schemeClr val="accent6">
                    <a:lumMod val="75000"/>
                  </a:schemeClr>
                </a:solidFill>
              </a:rPr>
              <a:t>операции ввода-вывода</a:t>
            </a:r>
            <a:r>
              <a:rPr lang="ru-RU" sz="1600" dirty="0" smtClean="0"/>
              <a:t>.</a:t>
            </a:r>
            <a:endParaRPr lang="ru-RU" sz="1600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632940"/>
            <a:ext cx="5155948" cy="2695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821713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47664" y="0"/>
            <a:ext cx="7596336" cy="620688"/>
          </a:xfrm>
        </p:spPr>
        <p:txBody>
          <a:bodyPr/>
          <a:lstStyle/>
          <a:p>
            <a:r>
              <a:rPr lang="ru-RU" sz="2200" b="1" dirty="0" smtClean="0">
                <a:solidFill>
                  <a:schemeClr val="bg1"/>
                </a:solidFill>
              </a:rPr>
              <a:t>Примеры реализации двух режимов ввода-вывода в персональных компьютерах</a:t>
            </a:r>
            <a:endParaRPr lang="ru-RU" sz="2200" b="1" dirty="0">
              <a:solidFill>
                <a:schemeClr val="bg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406" y="714356"/>
            <a:ext cx="589597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5536" y="5301208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 опросу готовности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394925" y="714356"/>
            <a:ext cx="4606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 прерываниям с использованием каналов </a:t>
            </a:r>
            <a:r>
              <a:rPr lang="ru-RU" i="1" dirty="0" smtClean="0"/>
              <a:t>прямого доступа в память</a:t>
            </a:r>
          </a:p>
          <a:p>
            <a:r>
              <a:rPr lang="ru-RU" i="1" dirty="0" smtClean="0"/>
              <a:t>(</a:t>
            </a:r>
            <a:r>
              <a:rPr lang="en-US" i="1" dirty="0"/>
              <a:t>Direct Memory Access</a:t>
            </a:r>
            <a:r>
              <a:rPr lang="ru-RU" i="1" dirty="0" smtClean="0"/>
              <a:t>)</a:t>
            </a:r>
            <a:endParaRPr lang="ru-RU" i="1" dirty="0"/>
          </a:p>
        </p:txBody>
      </p:sp>
      <p:sp>
        <p:nvSpPr>
          <p:cNvPr id="6" name="TextBox 5"/>
          <p:cNvSpPr txBox="1"/>
          <p:nvPr/>
        </p:nvSpPr>
        <p:spPr>
          <a:xfrm>
            <a:off x="107156" y="6145559"/>
            <a:ext cx="47528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3"/>
              </a:rPr>
              <a:t>https://</a:t>
            </a:r>
            <a:r>
              <a:rPr lang="en-US" sz="1400" dirty="0" smtClean="0">
                <a:hlinkClick r:id="rId3"/>
              </a:rPr>
              <a:t>www.lcard.ru/lexicon/dma_term</a:t>
            </a:r>
            <a:endParaRPr lang="ru-RU" sz="1400" dirty="0" smtClean="0"/>
          </a:p>
          <a:p>
            <a:r>
              <a:rPr lang="en-US" sz="1400" dirty="0">
                <a:hlinkClick r:id="rId4"/>
              </a:rPr>
              <a:t>https://</a:t>
            </a:r>
            <a:r>
              <a:rPr lang="en-US" sz="1400" dirty="0" smtClean="0">
                <a:hlinkClick r:id="rId4"/>
              </a:rPr>
              <a:t>wm-help.net/lib/b/book/3065756330/161</a:t>
            </a:r>
            <a:endParaRPr lang="ru-RU" sz="1400" dirty="0" smtClean="0"/>
          </a:p>
          <a:p>
            <a:endParaRPr lang="ru-RU" sz="14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4429124" y="1714488"/>
            <a:ext cx="47148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В PC/AT доступны 7 каналов DMA — четыре </a:t>
            </a:r>
            <a:endParaRPr lang="ru-RU" sz="1600" dirty="0" smtClean="0"/>
          </a:p>
          <a:p>
            <a:r>
              <a:rPr lang="ru-RU" sz="1600" dirty="0" smtClean="0"/>
              <a:t>8-битных </a:t>
            </a:r>
            <a:r>
              <a:rPr lang="ru-RU" sz="1600" dirty="0"/>
              <a:t>(номера 0–3) и три 16-битных (</a:t>
            </a:r>
            <a:r>
              <a:rPr lang="ru-RU" sz="1600" dirty="0" smtClean="0"/>
              <a:t>5–7),</a:t>
            </a:r>
            <a:r>
              <a:rPr lang="ru-RU" sz="1600" dirty="0"/>
              <a:t> </a:t>
            </a:r>
            <a:endParaRPr lang="ru-RU" sz="1600" dirty="0" smtClean="0"/>
          </a:p>
          <a:p>
            <a:r>
              <a:rPr lang="ru-RU" sz="1600" dirty="0" smtClean="0"/>
              <a:t>— </a:t>
            </a:r>
            <a:r>
              <a:rPr lang="ru-RU" sz="1600" dirty="0"/>
              <a:t>подключенные к первичному и вторичному контроллерам соответственно. 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Канал </a:t>
            </a:r>
            <a:r>
              <a:rPr lang="ru-RU" sz="1600" dirty="0"/>
              <a:t>4 используется для каскадирования (соединения контроллеров).</a:t>
            </a:r>
          </a:p>
        </p:txBody>
      </p:sp>
    </p:spTree>
    <p:extLst>
      <p:ext uri="{BB962C8B-B14F-4D97-AF65-F5344CB8AC3E}">
        <p14:creationId xmlns:p14="http://schemas.microsoft.com/office/powerpoint/2010/main" xmlns="" val="3308590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547664" y="0"/>
            <a:ext cx="7488832" cy="620688"/>
          </a:xfrm>
        </p:spPr>
        <p:txBody>
          <a:bodyPr/>
          <a:lstStyle/>
          <a:p>
            <a:r>
              <a:rPr lang="ru-RU" sz="2000" b="1" dirty="0" smtClean="0">
                <a:solidFill>
                  <a:schemeClr val="bg1"/>
                </a:solidFill>
              </a:rPr>
              <a:t>Использование </a:t>
            </a:r>
            <a:r>
              <a:rPr lang="ru-RU" sz="2000" b="1" dirty="0">
                <a:solidFill>
                  <a:schemeClr val="bg1"/>
                </a:solidFill>
              </a:rPr>
              <a:t>блокирующих (синхронных) и неблокирующих (асинхронных) передач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115616" y="1380832"/>
            <a:ext cx="727280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Большинство </a:t>
            </a:r>
            <a:r>
              <a:rPr lang="ru-RU" dirty="0"/>
              <a:t>операций физического ввода-вывода выполняется асинхронно - процессор начинает передачу и переходит на другую работу, пока не наступает прерывание. 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r>
              <a:rPr lang="ru-RU" dirty="0" smtClean="0"/>
              <a:t>Однако, пользовательские </a:t>
            </a:r>
            <a:r>
              <a:rPr lang="ru-RU" dirty="0"/>
              <a:t>программы намного легче писать, если операции ввода-вывода блокирующие - после команды READ программа автоматически приостанавливается до тех пор, пока данные не попадут в буфер программы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br>
              <a:rPr lang="ru-RU" dirty="0" smtClean="0"/>
            </a:br>
            <a:r>
              <a:rPr lang="ru-RU" dirty="0" smtClean="0"/>
              <a:t>ОС </a:t>
            </a:r>
            <a:r>
              <a:rPr lang="ru-RU" dirty="0"/>
              <a:t>выполняет операции ввода-вывода асинхронно, но представляет их для пользовательских программ в синхронной форме. </a:t>
            </a:r>
          </a:p>
        </p:txBody>
      </p:sp>
    </p:spTree>
    <p:extLst>
      <p:ext uri="{BB962C8B-B14F-4D97-AF65-F5344CB8AC3E}">
        <p14:creationId xmlns:p14="http://schemas.microsoft.com/office/powerpoint/2010/main" xmlns="" val="2961610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7176" y="0"/>
            <a:ext cx="7416824" cy="476672"/>
          </a:xfrm>
        </p:spPr>
        <p:txBody>
          <a:bodyPr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Организация </a:t>
            </a:r>
            <a:r>
              <a:rPr lang="ru-RU" dirty="0">
                <a:solidFill>
                  <a:schemeClr val="bg1"/>
                </a:solidFill>
              </a:rPr>
              <a:t>программного обеспечения ввода-вывода</a:t>
            </a:r>
            <a:endParaRPr lang="ru-RU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121" name="Picture 1" descr="http://www.citforum.ru/pictures/it/sos/img00034.gif"/>
          <p:cNvPicPr>
            <a:picLocks noChangeAspect="1" noChangeArrowheads="1"/>
          </p:cNvPicPr>
          <p:nvPr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2794" y="764704"/>
            <a:ext cx="3888432" cy="4645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283968" y="709514"/>
            <a:ext cx="47525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Основная идея организации программного обеспечения ввода-вывода состоит в </a:t>
            </a:r>
            <a:r>
              <a:rPr lang="ru-RU" i="1" dirty="0"/>
              <a:t>разбиении его на несколько уровней</a:t>
            </a:r>
            <a:r>
              <a:rPr lang="ru-RU" dirty="0"/>
              <a:t>, причем нижние уровни обеспечивают экранирование верхних </a:t>
            </a:r>
            <a:r>
              <a:rPr lang="ru-RU" dirty="0" smtClean="0"/>
              <a:t>уровней от особенностей аппаратуры, </a:t>
            </a:r>
            <a:r>
              <a:rPr lang="ru-RU" dirty="0"/>
              <a:t>а те, в свою очередь, обеспечивают удобный интерфейс для пользователей.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293443" y="3212976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Приложения, не имея возможности напрямую взаимодействовать с устройствами ввода-вывода, при необходимости выполнения операций ввода-вывода обращаются с запросами к операционной системе. 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79512" y="5563573"/>
            <a:ext cx="87849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При этом используются универсальные библиотечные функции ввода-вывода системы программирования, которые транслируются в тот или иной системный вызов.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27584" y="1340768"/>
            <a:ext cx="1440160" cy="864096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99078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7176" y="0"/>
            <a:ext cx="7416824" cy="476672"/>
          </a:xfrm>
        </p:spPr>
        <p:txBody>
          <a:bodyPr>
            <a:no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Независимый от устройств слой операционной системы</a:t>
            </a:r>
            <a:endParaRPr lang="ru-RU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121" name="Picture 1" descr="http://www.citforum.ru/pictures/it/sos/img00034.gif"/>
          <p:cNvPicPr>
            <a:picLocks noChangeAspect="1" noChangeArrowheads="1"/>
          </p:cNvPicPr>
          <p:nvPr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2794" y="764704"/>
            <a:ext cx="3888432" cy="4645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283968" y="709514"/>
            <a:ext cx="475252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Большая часть программного обеспечения ввода-вывода должна быть </a:t>
            </a:r>
            <a:r>
              <a:rPr lang="ru-RU" i="1" u="sng" dirty="0"/>
              <a:t>независимой от устройств</a:t>
            </a:r>
            <a:r>
              <a:rPr lang="ru-RU" dirty="0"/>
              <a:t>. </a:t>
            </a:r>
            <a:br>
              <a:rPr lang="ru-RU" dirty="0"/>
            </a:br>
            <a:endParaRPr lang="ru-RU" dirty="0"/>
          </a:p>
          <a:p>
            <a:r>
              <a:rPr lang="ru-RU" dirty="0"/>
              <a:t>Типичными функциями для независимого от устройств слоя являются: </a:t>
            </a:r>
          </a:p>
          <a:p>
            <a:pPr marL="285750" lvl="0" indent="-285750">
              <a:buFontTx/>
              <a:buChar char="-"/>
            </a:pPr>
            <a:r>
              <a:rPr lang="ru-RU" dirty="0"/>
              <a:t>обеспечение общего интерфейса к драйверам устройств, </a:t>
            </a:r>
          </a:p>
          <a:p>
            <a:pPr marL="285750" lvl="0" indent="-285750">
              <a:buFontTx/>
              <a:buChar char="-"/>
            </a:pPr>
            <a:r>
              <a:rPr lang="ru-RU" dirty="0"/>
              <a:t>именование устройств, </a:t>
            </a:r>
          </a:p>
          <a:p>
            <a:pPr marL="285750" lvl="0" indent="-285750">
              <a:buFontTx/>
              <a:buChar char="-"/>
            </a:pPr>
            <a:r>
              <a:rPr lang="ru-RU" dirty="0"/>
              <a:t>обеспечение независимого размера блока, </a:t>
            </a:r>
          </a:p>
          <a:p>
            <a:pPr marL="285750" lvl="0" indent="-285750">
              <a:buFontTx/>
              <a:buChar char="-"/>
            </a:pPr>
            <a:r>
              <a:rPr lang="ru-RU" dirty="0"/>
              <a:t>буферизация, </a:t>
            </a:r>
          </a:p>
          <a:p>
            <a:pPr marL="285750" lvl="0" indent="-285750">
              <a:buFontTx/>
              <a:buChar char="-"/>
            </a:pPr>
            <a:r>
              <a:rPr lang="ru-RU" dirty="0"/>
              <a:t>распределение памяти на блок-ориентированных устройства</a:t>
            </a:r>
          </a:p>
          <a:p>
            <a:pPr marL="285750" lvl="0" indent="-285750">
              <a:buFontTx/>
              <a:buChar char="-"/>
            </a:pPr>
            <a:r>
              <a:rPr lang="ru-RU" dirty="0"/>
              <a:t>распределение и освобождение выделенных устройств, </a:t>
            </a:r>
          </a:p>
          <a:p>
            <a:pPr marL="285750" lvl="0" indent="-285750">
              <a:buFontTx/>
              <a:buChar char="-"/>
            </a:pPr>
            <a:r>
              <a:rPr lang="ru-RU" dirty="0"/>
              <a:t>уведомление об ошибках.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79512" y="5563573"/>
            <a:ext cx="87849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Ключевую роль в подсистеме ввода-вывода играет </a:t>
            </a:r>
            <a:r>
              <a:rPr lang="ru-RU" i="1" dirty="0" smtClean="0">
                <a:solidFill>
                  <a:srgbClr val="2765AF"/>
                </a:solidFill>
              </a:rPr>
              <a:t>супервизор </a:t>
            </a:r>
            <a:r>
              <a:rPr lang="ru-RU" i="1" dirty="0">
                <a:solidFill>
                  <a:srgbClr val="2765AF"/>
                </a:solidFill>
              </a:rPr>
              <a:t>ввода-вывода</a:t>
            </a:r>
            <a:r>
              <a:rPr lang="ru-RU" dirty="0"/>
              <a:t> </a:t>
            </a:r>
            <a:r>
              <a:rPr lang="ru-RU" dirty="0" smtClean="0"/>
              <a:t>- </a:t>
            </a:r>
            <a:r>
              <a:rPr lang="ru-RU" dirty="0"/>
              <a:t>компонента операционной системы, осуществляющая управление </a:t>
            </a:r>
            <a:r>
              <a:rPr lang="ru-RU" dirty="0" smtClean="0"/>
              <a:t>вводом-выводом.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62794" y="2492896"/>
            <a:ext cx="3888432" cy="1224136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46140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672" y="0"/>
            <a:ext cx="7416824" cy="548680"/>
          </a:xfrm>
        </p:spPr>
        <p:txBody>
          <a:bodyPr>
            <a:noAutofit/>
          </a:bodyPr>
          <a:lstStyle/>
          <a:p>
            <a:pPr algn="ctr"/>
            <a:r>
              <a:rPr lang="ru-RU" sz="2200" dirty="0" smtClean="0">
                <a:solidFill>
                  <a:schemeClr val="bg1"/>
                </a:solidFill>
              </a:rPr>
              <a:t>Супервизор ввода-вывода и его задачи</a:t>
            </a:r>
            <a:endParaRPr lang="ru-RU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20688"/>
            <a:ext cx="892899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/>
          </a:p>
          <a:p>
            <a:pPr marL="342900" indent="-342900">
              <a:buAutoNum type="arabicPeriod"/>
            </a:pPr>
            <a:r>
              <a:rPr lang="ru-RU" dirty="0" smtClean="0"/>
              <a:t>Получает </a:t>
            </a:r>
            <a:r>
              <a:rPr lang="ru-RU" dirty="0"/>
              <a:t>запросы на ввод-вывод от </a:t>
            </a:r>
            <a:r>
              <a:rPr lang="ru-RU" dirty="0" smtClean="0"/>
              <a:t>прикладных </a:t>
            </a:r>
            <a:r>
              <a:rPr lang="ru-RU" dirty="0"/>
              <a:t>задач или от </a:t>
            </a:r>
            <a:r>
              <a:rPr lang="ru-RU" dirty="0" smtClean="0"/>
              <a:t>других модулей </a:t>
            </a:r>
            <a:r>
              <a:rPr lang="ru-RU" dirty="0"/>
              <a:t>операционной системы. </a:t>
            </a:r>
            <a:endParaRPr lang="ru-RU" dirty="0" smtClean="0"/>
          </a:p>
          <a:p>
            <a:pPr marL="342900" indent="-342900">
              <a:buAutoNum type="arabicPeriod"/>
            </a:pPr>
            <a:r>
              <a:rPr lang="ru-RU" dirty="0" smtClean="0"/>
              <a:t>Вызывает </a:t>
            </a:r>
            <a:r>
              <a:rPr lang="ru-RU" dirty="0"/>
              <a:t>соответствующие распределители каналов и контроллеров, планирует ввод-вывод (определяет очередность предоставления устройств ввода-вывода задачам, затребовавшим эти устройства). Запрос на ввод-вывод либо тут же выполняется, либо ставится в очередь на выполнение. </a:t>
            </a:r>
            <a:endParaRPr lang="ru-RU" dirty="0" smtClean="0"/>
          </a:p>
          <a:p>
            <a:pPr marL="342900" indent="-342900">
              <a:buAutoNum type="arabicPeriod"/>
            </a:pPr>
            <a:r>
              <a:rPr lang="ru-RU" dirty="0" smtClean="0"/>
              <a:t>Инициирует </a:t>
            </a:r>
            <a:r>
              <a:rPr lang="ru-RU" dirty="0"/>
              <a:t>операции ввода-вывода (передает управление соответствующим драйверам) и в случае управления вводом-выводом с использованием прерываний предоставляет процессор диспетчеру задач с тем, чтобы передать его первой задаче, стоящей в очереди на выполнение</a:t>
            </a:r>
            <a:r>
              <a:rPr lang="ru-RU" dirty="0" smtClean="0"/>
              <a:t>.</a:t>
            </a:r>
          </a:p>
          <a:p>
            <a:pPr marL="342900" indent="-342900">
              <a:buAutoNum type="arabicPeriod"/>
            </a:pPr>
            <a:r>
              <a:rPr lang="ru-RU" dirty="0" smtClean="0"/>
              <a:t>При </a:t>
            </a:r>
            <a:r>
              <a:rPr lang="ru-RU" dirty="0"/>
              <a:t>получении сигналов прерываний от устройств </a:t>
            </a:r>
            <a:r>
              <a:rPr lang="ru-RU" dirty="0" smtClean="0"/>
              <a:t>ввода-вывода идентифицирует </a:t>
            </a:r>
            <a:r>
              <a:rPr lang="ru-RU" dirty="0"/>
              <a:t>эти сигналы </a:t>
            </a:r>
            <a:r>
              <a:rPr lang="ru-RU" dirty="0" smtClean="0"/>
              <a:t>и </a:t>
            </a:r>
            <a:r>
              <a:rPr lang="ru-RU" dirty="0"/>
              <a:t>передает управление соответствующим программам обработки прерываний</a:t>
            </a:r>
            <a:r>
              <a:rPr lang="ru-RU" dirty="0" smtClean="0"/>
              <a:t>.</a:t>
            </a:r>
          </a:p>
          <a:p>
            <a:pPr marL="342900" indent="-342900">
              <a:buAutoNum type="arabicPeriod"/>
            </a:pPr>
            <a:r>
              <a:rPr lang="ru-RU" dirty="0" smtClean="0"/>
              <a:t>Осуществляет </a:t>
            </a:r>
            <a:r>
              <a:rPr lang="ru-RU" dirty="0"/>
              <a:t>передачу сообщений об ошибках, если таковые происходят в процессе управления операциями ввода-вывода</a:t>
            </a:r>
            <a:r>
              <a:rPr lang="ru-RU" dirty="0" smtClean="0"/>
              <a:t>.</a:t>
            </a:r>
          </a:p>
          <a:p>
            <a:pPr marL="342900" indent="-342900">
              <a:buAutoNum type="arabicPeriod"/>
            </a:pPr>
            <a:r>
              <a:rPr lang="ru-RU" dirty="0" smtClean="0"/>
              <a:t>Посылает </a:t>
            </a:r>
            <a:r>
              <a:rPr lang="ru-RU" dirty="0"/>
              <a:t>сообщения о завершении операции </a:t>
            </a:r>
            <a:r>
              <a:rPr lang="ru-RU" dirty="0" smtClean="0"/>
              <a:t>ввода-вывода </a:t>
            </a:r>
            <a:r>
              <a:rPr lang="ru-RU" dirty="0"/>
              <a:t>запросившей эту операцию задаче и снимает ее с состояния ожидания ввода-вывода, если задача ожидала завершения операции.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0701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3668" y="0"/>
            <a:ext cx="7560332" cy="548680"/>
          </a:xfrm>
        </p:spPr>
        <p:txBody>
          <a:bodyPr>
            <a:no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Драйверы </a:t>
            </a:r>
            <a:r>
              <a:rPr lang="ru-RU" dirty="0" smtClean="0">
                <a:solidFill>
                  <a:schemeClr val="bg1"/>
                </a:solidFill>
              </a:rPr>
              <a:t>устройств</a:t>
            </a:r>
            <a:endParaRPr lang="ru-RU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121" name="Picture 1" descr="http://www.citforum.ru/pictures/it/sos/img00034.gif"/>
          <p:cNvPicPr>
            <a:picLocks noChangeAspect="1" noChangeArrowheads="1"/>
          </p:cNvPicPr>
          <p:nvPr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3053" y="708224"/>
            <a:ext cx="4094725" cy="4748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283968" y="709514"/>
            <a:ext cx="486003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Весь </a:t>
            </a:r>
            <a:r>
              <a:rPr lang="ru-RU" i="1" u="sng" dirty="0">
                <a:solidFill>
                  <a:srgbClr val="FF0000"/>
                </a:solidFill>
              </a:rPr>
              <a:t>зависимый</a:t>
            </a:r>
            <a:r>
              <a:rPr lang="ru-RU" dirty="0"/>
              <a:t> от устройства код помещается в </a:t>
            </a:r>
            <a:r>
              <a:rPr lang="ru-RU" i="1" dirty="0">
                <a:solidFill>
                  <a:srgbClr val="B71327"/>
                </a:solidFill>
              </a:rPr>
              <a:t>драйвер устройства</a:t>
            </a:r>
            <a:r>
              <a:rPr lang="ru-RU" dirty="0"/>
              <a:t>. 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Каждый драйвер управляет устройствами одного типа или, может быть, одного класса. </a:t>
            </a:r>
          </a:p>
          <a:p>
            <a:r>
              <a:rPr lang="ru-RU" dirty="0"/>
              <a:t>В операционной системе только драйвер устройства знает о конкретных особенностях какого-либо устройства. Например, только драйвер диска имеет дело с дорожками, секторами, цилиндрами, временем установления головки и другими факторами, обеспечивающими правильную работу диска. </a:t>
            </a:r>
          </a:p>
          <a:p>
            <a:r>
              <a:rPr lang="ru-RU" dirty="0"/>
              <a:t>Драйвер устройства принимает запрос от модулей программного слоя и решает, как его выполнить.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83568" y="3645024"/>
            <a:ext cx="1800200" cy="432048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33033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547664" y="0"/>
            <a:ext cx="7488832" cy="620688"/>
          </a:xfrm>
        </p:spPr>
        <p:txBody>
          <a:bodyPr/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Работа драйвера устройств</a:t>
            </a:r>
            <a:endParaRPr lang="ru-RU" sz="2200" b="1" dirty="0">
              <a:solidFill>
                <a:schemeClr val="bg1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42844" y="714356"/>
            <a:ext cx="8821644" cy="5826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Если </a:t>
            </a:r>
            <a:r>
              <a:rPr lang="ru-RU" dirty="0"/>
              <a:t>драйвер был свободен во время поступления запроса, то он начинает выполнять запрос немедленно.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же он был занят обслуживанием другого запроса, то вновь поступивший запрос присоединяется к очереди уже имеющихся запросов, и он будет выполнен, когда наступит его очередь.</a:t>
            </a:r>
          </a:p>
          <a:p>
            <a:r>
              <a:rPr lang="ru-RU" dirty="0" smtClean="0"/>
              <a:t>Первый </a:t>
            </a:r>
            <a:r>
              <a:rPr lang="ru-RU" dirty="0"/>
              <a:t>шаг в реализации запроса </a:t>
            </a:r>
            <a:r>
              <a:rPr lang="ru-RU" dirty="0" smtClean="0"/>
              <a:t>ввода-вывода </a:t>
            </a:r>
            <a:r>
              <a:rPr lang="ru-RU" dirty="0"/>
              <a:t>состоит в преобразовании его из абстрактной формы в конкретную. </a:t>
            </a:r>
            <a:endParaRPr lang="ru-RU" dirty="0" smtClean="0"/>
          </a:p>
          <a:p>
            <a:r>
              <a:rPr lang="ru-RU" dirty="0" smtClean="0"/>
              <a:t>Например, при обработке типичным запроса на </a:t>
            </a:r>
            <a:r>
              <a:rPr lang="ru-RU" dirty="0"/>
              <a:t>чтение </a:t>
            </a:r>
            <a:r>
              <a:rPr lang="ru-RU" i="1" dirty="0"/>
              <a:t>n</a:t>
            </a:r>
            <a:r>
              <a:rPr lang="ru-RU" dirty="0"/>
              <a:t> блоков </a:t>
            </a:r>
            <a:r>
              <a:rPr lang="ru-RU" dirty="0" smtClean="0"/>
              <a:t>данных с магнитного носителя для </a:t>
            </a:r>
            <a:r>
              <a:rPr lang="ru-RU" dirty="0"/>
              <a:t>дискового драйвера </a:t>
            </a:r>
            <a:r>
              <a:rPr lang="ru-RU" dirty="0" smtClean="0"/>
              <a:t>выполняется </a:t>
            </a:r>
            <a:r>
              <a:rPr lang="ru-RU" dirty="0"/>
              <a:t>преобразование номеров блоков в номера цилиндров, головок, секторов, проверку, работает ли мотор, находится ли головка над нужным цилиндром. </a:t>
            </a:r>
            <a:endParaRPr lang="ru-RU" dirty="0" smtClean="0"/>
          </a:p>
          <a:p>
            <a:r>
              <a:rPr lang="ru-RU" dirty="0" smtClean="0"/>
              <a:t>Другими словами, драйвер должен </a:t>
            </a:r>
            <a:r>
              <a:rPr lang="ru-RU" dirty="0"/>
              <a:t>решить, какие операции контроллера нужно выполнить и в какой последовательности. </a:t>
            </a:r>
          </a:p>
          <a:p>
            <a:r>
              <a:rPr lang="ru-RU" dirty="0"/>
              <a:t>После передачи команды контроллеру драйвер должен решить, блокировать ли себя до окончания заданной операции или нет.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операция занимает значительное время, как при печати некоторого блока данных, то драйвер блокируется до тех пор, пока операция не завершится, и обработчик прерывания не разблокирует его.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команда ввода-вывода выполняется быстро (например, прокрутка экрана), то драйвер ожидает ее завершения без блокирования. </a:t>
            </a:r>
          </a:p>
        </p:txBody>
      </p:sp>
    </p:spTree>
    <p:extLst>
      <p:ext uri="{BB962C8B-B14F-4D97-AF65-F5344CB8AC3E}">
        <p14:creationId xmlns:p14="http://schemas.microsoft.com/office/powerpoint/2010/main" xmlns="" val="33466065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547664" y="0"/>
            <a:ext cx="7488832" cy="620688"/>
          </a:xfrm>
        </p:spPr>
        <p:txBody>
          <a:bodyPr/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Упрощенная структура драйвера устройств</a:t>
            </a:r>
            <a:endParaRPr lang="ru-RU" sz="2200" b="1" dirty="0">
              <a:solidFill>
                <a:schemeClr val="bg1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23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987824" y="764704"/>
            <a:ext cx="596674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i="1" dirty="0" smtClean="0">
                <a:solidFill>
                  <a:srgbClr val="B71327"/>
                </a:solidFill>
              </a:rPr>
              <a:t>Секция </a:t>
            </a:r>
            <a:r>
              <a:rPr lang="ru-RU" sz="1600" i="1" dirty="0">
                <a:solidFill>
                  <a:srgbClr val="B71327"/>
                </a:solidFill>
              </a:rPr>
              <a:t>запуск</a:t>
            </a:r>
            <a:r>
              <a:rPr lang="ru-RU" sz="1600" i="1" dirty="0"/>
              <a:t>а</a:t>
            </a:r>
            <a:r>
              <a:rPr lang="ru-RU" sz="1600" dirty="0"/>
              <a:t> инициирует операцию ввода-вывода. Эта секция запускается для включения устройства ввода-вывода или просто для инициализации очередной операции ввода-вывода</a:t>
            </a:r>
            <a:r>
              <a:rPr lang="ru-RU" sz="1600" dirty="0" smtClean="0"/>
              <a:t>.</a:t>
            </a:r>
          </a:p>
          <a:p>
            <a:endParaRPr lang="ru-RU" sz="1600" dirty="0"/>
          </a:p>
          <a:p>
            <a:r>
              <a:rPr lang="ru-RU" sz="1600" i="1" dirty="0">
                <a:solidFill>
                  <a:srgbClr val="B71327"/>
                </a:solidFill>
              </a:rPr>
              <a:t>Секция продолжения</a:t>
            </a:r>
            <a:r>
              <a:rPr lang="ru-RU" sz="1600" dirty="0">
                <a:solidFill>
                  <a:srgbClr val="B71327"/>
                </a:solidFill>
              </a:rPr>
              <a:t> </a:t>
            </a:r>
            <a:r>
              <a:rPr lang="ru-RU" sz="1600" dirty="0" smtClean="0"/>
              <a:t>осуществляет </a:t>
            </a:r>
            <a:r>
              <a:rPr lang="ru-RU" sz="1600" dirty="0"/>
              <a:t>основную работу по передаче </a:t>
            </a:r>
            <a:r>
              <a:rPr lang="ru-RU" sz="1600" dirty="0" smtClean="0"/>
              <a:t>данных, является </a:t>
            </a:r>
            <a:r>
              <a:rPr lang="ru-RU" sz="1600" dirty="0"/>
              <a:t>основным обработчиком прерывания. </a:t>
            </a:r>
            <a:endParaRPr lang="ru-RU" sz="1600" dirty="0" smtClean="0"/>
          </a:p>
          <a:p>
            <a:r>
              <a:rPr lang="ru-RU" sz="1600" dirty="0" smtClean="0"/>
              <a:t>Поскольку </a:t>
            </a:r>
            <a:r>
              <a:rPr lang="ru-RU" sz="1600" dirty="0"/>
              <a:t>используемый интерфейс может потребовать для </a:t>
            </a:r>
            <a:r>
              <a:rPr lang="ru-RU" sz="1600" dirty="0" smtClean="0"/>
              <a:t>управления </a:t>
            </a:r>
            <a:r>
              <a:rPr lang="ru-RU" sz="1600" dirty="0"/>
              <a:t>вводом-выводом несколько последовательностей управляющих команд, а </a:t>
            </a:r>
            <a:r>
              <a:rPr lang="ru-RU" sz="1600" dirty="0" smtClean="0"/>
              <a:t>сигнал </a:t>
            </a:r>
            <a:r>
              <a:rPr lang="ru-RU" sz="1600" dirty="0"/>
              <a:t>прерывания у устройства, как правило, только один, то после выполнения очередной секции </a:t>
            </a:r>
            <a:r>
              <a:rPr lang="ru-RU" sz="1600" dirty="0" smtClean="0"/>
              <a:t>продолжения </a:t>
            </a:r>
            <a:r>
              <a:rPr lang="ru-RU" sz="1600" dirty="0"/>
              <a:t>супервизор прерываний при следующем сигнале готовности должен передать управление другой секции. Это делается путем </a:t>
            </a:r>
            <a:r>
              <a:rPr lang="ru-RU" sz="1600" dirty="0" smtClean="0"/>
              <a:t>изменения </a:t>
            </a:r>
            <a:r>
              <a:rPr lang="ru-RU" sz="1600" dirty="0"/>
              <a:t>адреса обработки прерывания после выполнения очередной секции, а если имеется только одна секция продолжения, она сама передает управление в ту или иную часть кода подпрограммы обработки прерывания.</a:t>
            </a:r>
          </a:p>
          <a:p>
            <a:endParaRPr lang="ru-RU" sz="1600" i="1" dirty="0" smtClean="0"/>
          </a:p>
          <a:p>
            <a:r>
              <a:rPr lang="ru-RU" sz="1600" i="1" dirty="0" smtClean="0">
                <a:solidFill>
                  <a:srgbClr val="B71327"/>
                </a:solidFill>
              </a:rPr>
              <a:t>Секция </a:t>
            </a:r>
            <a:r>
              <a:rPr lang="ru-RU" sz="1600" i="1" dirty="0">
                <a:solidFill>
                  <a:srgbClr val="B71327"/>
                </a:solidFill>
              </a:rPr>
              <a:t>завершения</a:t>
            </a:r>
            <a:r>
              <a:rPr lang="ru-RU" sz="1600" dirty="0">
                <a:solidFill>
                  <a:srgbClr val="B71327"/>
                </a:solidFill>
              </a:rPr>
              <a:t> </a:t>
            </a:r>
            <a:r>
              <a:rPr lang="ru-RU" sz="1600" dirty="0"/>
              <a:t>обычно выключает устройство ввода-вывода или просто </a:t>
            </a:r>
            <a:r>
              <a:rPr lang="ru-RU" sz="1600" dirty="0" smtClean="0"/>
              <a:t>завершает </a:t>
            </a:r>
            <a:r>
              <a:rPr lang="ru-RU" sz="1600" dirty="0"/>
              <a:t>операцию</a:t>
            </a:r>
            <a:r>
              <a:rPr lang="ru-RU" sz="1600" dirty="0" smtClean="0"/>
              <a:t>.</a:t>
            </a: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07504" y="836712"/>
            <a:ext cx="2783954" cy="3312368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9512" y="1052736"/>
            <a:ext cx="259228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Секция запуска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79512" y="1840260"/>
            <a:ext cx="2592288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Секция(и) продолжения</a:t>
            </a:r>
          </a:p>
          <a:p>
            <a:pPr algn="ctr"/>
            <a:endParaRPr lang="ru-RU" dirty="0"/>
          </a:p>
        </p:txBody>
      </p:sp>
      <p:cxnSp>
        <p:nvCxnSpPr>
          <p:cNvPr id="9" name="Прямая со стрелкой 8"/>
          <p:cNvCxnSpPr>
            <a:stCxn id="3" idx="2"/>
            <a:endCxn id="8" idx="0"/>
          </p:cNvCxnSpPr>
          <p:nvPr/>
        </p:nvCxnSpPr>
        <p:spPr>
          <a:xfrm>
            <a:off x="1475656" y="1556792"/>
            <a:ext cx="0" cy="28346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155154" y="3501008"/>
            <a:ext cx="261664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Секция завершения</a:t>
            </a:r>
            <a:endParaRPr lang="ru-RU" dirty="0"/>
          </a:p>
        </p:txBody>
      </p:sp>
      <p:cxnSp>
        <p:nvCxnSpPr>
          <p:cNvPr id="14" name="Прямая со стрелкой 13"/>
          <p:cNvCxnSpPr>
            <a:stCxn id="8" idx="2"/>
            <a:endCxn id="13" idx="0"/>
          </p:cNvCxnSpPr>
          <p:nvPr/>
        </p:nvCxnSpPr>
        <p:spPr>
          <a:xfrm flipH="1">
            <a:off x="1463477" y="3208412"/>
            <a:ext cx="12179" cy="29259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34690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7176" y="0"/>
            <a:ext cx="7416824" cy="476672"/>
          </a:xfrm>
        </p:spPr>
        <p:txBody>
          <a:bodyPr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Обработка ошибок ввода-вывода</a:t>
            </a:r>
            <a:endParaRPr lang="ru-RU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121" name="Picture 1" descr="http://www.citforum.ru/pictures/it/sos/img00034.gif"/>
          <p:cNvPicPr>
            <a:picLocks noChangeAspect="1" noChangeArrowheads="1"/>
          </p:cNvPicPr>
          <p:nvPr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913110"/>
            <a:ext cx="4094725" cy="4748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283968" y="709514"/>
            <a:ext cx="486003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Важным </a:t>
            </a:r>
            <a:r>
              <a:rPr lang="ru-RU" dirty="0"/>
              <a:t>вопросом для программного обеспечения ввода-вывода является обработка ошибок.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b="1" dirty="0" smtClean="0">
                <a:solidFill>
                  <a:srgbClr val="B71327"/>
                </a:solidFill>
              </a:rPr>
              <a:t>Принцип работы</a:t>
            </a:r>
            <a:r>
              <a:rPr lang="ru-RU" dirty="0" smtClean="0"/>
              <a:t>: </a:t>
            </a:r>
          </a:p>
          <a:p>
            <a:r>
              <a:rPr lang="ru-RU" dirty="0" smtClean="0"/>
              <a:t>«</a:t>
            </a:r>
            <a:r>
              <a:rPr lang="ru-RU" i="1" dirty="0" smtClean="0"/>
              <a:t>Ошибки </a:t>
            </a:r>
            <a:r>
              <a:rPr lang="ru-RU" i="1" dirty="0"/>
              <a:t>следует обрабатывать как можно ближе к аппаратуре. </a:t>
            </a:r>
            <a:r>
              <a:rPr lang="ru-RU" i="1" dirty="0" smtClean="0"/>
              <a:t>И </a:t>
            </a:r>
            <a:r>
              <a:rPr lang="ru-RU" i="1" dirty="0"/>
              <a:t>только если нижний уровень не может справиться с ошибкой, он сообщает об ошибке верхнему </a:t>
            </a:r>
            <a:r>
              <a:rPr lang="ru-RU" i="1" dirty="0" smtClean="0"/>
              <a:t>уровню</a:t>
            </a:r>
            <a:r>
              <a:rPr lang="ru-RU" dirty="0" smtClean="0"/>
              <a:t>».</a:t>
            </a:r>
            <a:endParaRPr lang="ru-RU" dirty="0"/>
          </a:p>
          <a:p>
            <a:endParaRPr lang="ru-RU" dirty="0" smtClean="0"/>
          </a:p>
          <a:p>
            <a:r>
              <a:rPr lang="ru-RU" dirty="0" smtClean="0"/>
              <a:t>Пример.</a:t>
            </a:r>
            <a:br>
              <a:rPr lang="ru-RU" dirty="0" smtClean="0"/>
            </a:br>
            <a:r>
              <a:rPr lang="ru-RU" dirty="0" smtClean="0"/>
              <a:t>Если </a:t>
            </a:r>
            <a:r>
              <a:rPr lang="ru-RU" dirty="0"/>
              <a:t>контроллер обнаруживает ошибку чтения, то он должен попытаться ее скорректировать. </a:t>
            </a:r>
            <a:r>
              <a:rPr lang="ru-RU" dirty="0" smtClean="0"/>
              <a:t>Многие </a:t>
            </a:r>
            <a:r>
              <a:rPr lang="ru-RU" dirty="0"/>
              <a:t>ошибки могут исчезать при повторных попытках выполнения операций ввода-вывода, например, ошибки, вызванные наличием пылинок на головках чтения или на диске. </a:t>
            </a:r>
            <a:endParaRPr lang="ru-RU" dirty="0" smtClean="0"/>
          </a:p>
          <a:p>
            <a:r>
              <a:rPr lang="ru-RU" dirty="0"/>
              <a:t>Если же </a:t>
            </a:r>
            <a:r>
              <a:rPr lang="ru-RU" dirty="0" smtClean="0"/>
              <a:t>контроллеру не удается решить проблему, </a:t>
            </a:r>
            <a:r>
              <a:rPr lang="ru-RU" dirty="0"/>
              <a:t>то исправлением ошибок должен заняться драйвер устройства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3932287"/>
            <a:ext cx="2304256" cy="1656184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115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7176" y="0"/>
            <a:ext cx="7416824" cy="476672"/>
          </a:xfrm>
        </p:spPr>
        <p:txBody>
          <a:bodyPr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Организация </a:t>
            </a:r>
            <a:r>
              <a:rPr lang="ru-RU" dirty="0">
                <a:solidFill>
                  <a:schemeClr val="bg1"/>
                </a:solidFill>
              </a:rPr>
              <a:t>программного обеспечения ввода-вывода</a:t>
            </a:r>
            <a:endParaRPr lang="ru-RU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121" name="Picture 1" descr="http://www.citforum.ru/pictures/it/sos/img00034.gif"/>
          <p:cNvPicPr>
            <a:picLocks noChangeAspect="1" noChangeArrowheads="1"/>
          </p:cNvPicPr>
          <p:nvPr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5" y="913110"/>
            <a:ext cx="3888432" cy="4645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4290739" y="1340768"/>
            <a:ext cx="471041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Ключевым принципом является независимость от устройств:  </a:t>
            </a:r>
            <a:br>
              <a:rPr lang="ru-RU" dirty="0" smtClean="0"/>
            </a:br>
            <a:r>
              <a:rPr lang="ru-RU" dirty="0" smtClean="0"/>
              <a:t>код программы не должен зависеть от того, читает ли она данные с гибкого диска или с жесткого диска. </a:t>
            </a:r>
          </a:p>
          <a:p>
            <a:endParaRPr lang="ru-RU" dirty="0" smtClean="0"/>
          </a:p>
          <a:p>
            <a:r>
              <a:rPr lang="ru-RU" dirty="0" smtClean="0"/>
              <a:t>Очень близкой к идее независимости от устройств является идея единообразного именования, то есть для именования устройств должны быть приняты единые правила. 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A6197-3A7C-478F-A3AB-04D7D895E4D3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80395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672" y="0"/>
            <a:ext cx="7416824" cy="620688"/>
          </a:xfrm>
        </p:spPr>
        <p:txBody>
          <a:bodyPr>
            <a:normAutofit/>
          </a:bodyPr>
          <a:lstStyle/>
          <a:p>
            <a:r>
              <a:rPr lang="ru-RU" sz="2000" b="1" dirty="0" smtClean="0">
                <a:solidFill>
                  <a:schemeClr val="bg1"/>
                </a:solidFill>
              </a:rPr>
              <a:t>Информация, необходимая для управления вводом-выводом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36" y="642918"/>
            <a:ext cx="903649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управления </a:t>
            </a:r>
            <a:r>
              <a:rPr lang="ru-RU" dirty="0" smtClean="0"/>
              <a:t>операциями </a:t>
            </a:r>
            <a:r>
              <a:rPr lang="ru-RU" dirty="0"/>
              <a:t>ввода-вывода и отслеживания состояния всех ресурсов, занятых в обмене данными, операционная система должна иметь соответствующие информационные </a:t>
            </a:r>
            <a:r>
              <a:rPr lang="ru-RU" dirty="0" smtClean="0"/>
              <a:t>структуры отображающие </a:t>
            </a:r>
            <a:r>
              <a:rPr lang="ru-RU" dirty="0"/>
              <a:t>следующую информацию:</a:t>
            </a:r>
          </a:p>
          <a:p>
            <a:pPr marL="285750" lvl="0" indent="-285750">
              <a:buFontTx/>
              <a:buChar char="-"/>
            </a:pPr>
            <a:r>
              <a:rPr lang="ru-RU" b="1" i="1" dirty="0" smtClean="0"/>
              <a:t>состав </a:t>
            </a:r>
            <a:r>
              <a:rPr lang="ru-RU" b="1" i="1" dirty="0"/>
              <a:t>устройств </a:t>
            </a:r>
            <a:r>
              <a:rPr lang="ru-RU" dirty="0"/>
              <a:t>ввода-вывода и </a:t>
            </a:r>
            <a:r>
              <a:rPr lang="ru-RU" b="1" i="1" dirty="0"/>
              <a:t>способы их подключения</a:t>
            </a:r>
            <a:r>
              <a:rPr lang="ru-RU" dirty="0" smtClean="0"/>
              <a:t>;</a:t>
            </a:r>
          </a:p>
          <a:p>
            <a:pPr marL="285750" lvl="0" indent="-285750">
              <a:buFontTx/>
              <a:buChar char="-"/>
            </a:pPr>
            <a:r>
              <a:rPr lang="ru-RU" b="1" i="1" dirty="0" smtClean="0"/>
              <a:t>аппаратные </a:t>
            </a:r>
            <a:r>
              <a:rPr lang="ru-RU" b="1" i="1" dirty="0"/>
              <a:t>ресурсы</a:t>
            </a:r>
            <a:r>
              <a:rPr lang="ru-RU" dirty="0"/>
              <a:t>, закрепленные за имеющимися в системе </a:t>
            </a:r>
            <a:r>
              <a:rPr lang="ru-RU" dirty="0" smtClean="0"/>
              <a:t>устройствами ввода-вывода;</a:t>
            </a:r>
          </a:p>
          <a:p>
            <a:pPr marL="285750" lvl="0" indent="-285750">
              <a:buFontTx/>
              <a:buChar char="-"/>
            </a:pPr>
            <a:r>
              <a:rPr lang="ru-RU" b="1" i="1" dirty="0" smtClean="0"/>
              <a:t>логические </a:t>
            </a:r>
            <a:r>
              <a:rPr lang="ru-RU" b="1" i="1" dirty="0"/>
              <a:t>(символьные) имена устройств ввода-вывода</a:t>
            </a:r>
            <a:r>
              <a:rPr lang="ru-RU" dirty="0"/>
              <a:t>, используя которые </a:t>
            </a:r>
            <a:r>
              <a:rPr lang="ru-RU" dirty="0" smtClean="0"/>
              <a:t>вычислительные процессы </a:t>
            </a:r>
            <a:r>
              <a:rPr lang="ru-RU" dirty="0"/>
              <a:t>могут запрашивать те или иные операции </a:t>
            </a:r>
            <a:r>
              <a:rPr lang="ru-RU" dirty="0" smtClean="0"/>
              <a:t>ввода-вывода;</a:t>
            </a:r>
          </a:p>
          <a:p>
            <a:pPr marL="285750" lvl="0" indent="-285750">
              <a:buFontTx/>
              <a:buChar char="-"/>
            </a:pPr>
            <a:r>
              <a:rPr lang="ru-RU" b="1" i="1" dirty="0" smtClean="0"/>
              <a:t>адреса </a:t>
            </a:r>
            <a:r>
              <a:rPr lang="ru-RU" b="1" i="1" dirty="0"/>
              <a:t>размещения драйверов</a:t>
            </a:r>
            <a:r>
              <a:rPr lang="ru-RU" dirty="0"/>
              <a:t> устройств ввода-вывода и области памяти для хранения текущих значений переменных, определяющих работу с этими </a:t>
            </a:r>
            <a:r>
              <a:rPr lang="ru-RU" dirty="0" smtClean="0"/>
              <a:t>устройствами</a:t>
            </a:r>
          </a:p>
          <a:p>
            <a:pPr marL="285750" lvl="0" indent="-285750">
              <a:buFontTx/>
              <a:buChar char="-"/>
            </a:pPr>
            <a:r>
              <a:rPr lang="ru-RU" b="1" i="1" dirty="0" smtClean="0"/>
              <a:t>области </a:t>
            </a:r>
            <a:r>
              <a:rPr lang="ru-RU" b="1" i="1" dirty="0"/>
              <a:t>памяти</a:t>
            </a:r>
            <a:r>
              <a:rPr lang="ru-RU" dirty="0"/>
              <a:t> </a:t>
            </a:r>
            <a:r>
              <a:rPr lang="ru-RU" b="1" i="1" dirty="0"/>
              <a:t>для хранения информации о текущем состоянии</a:t>
            </a:r>
            <a:r>
              <a:rPr lang="ru-RU" dirty="0"/>
              <a:t> устройства ввода-вывода и параметрах, определяющих режимы работы </a:t>
            </a:r>
            <a:r>
              <a:rPr lang="ru-RU" dirty="0" smtClean="0"/>
              <a:t>устройства;</a:t>
            </a:r>
          </a:p>
          <a:p>
            <a:pPr marL="285750" lvl="0" indent="-285750">
              <a:buFontTx/>
              <a:buChar char="-"/>
            </a:pPr>
            <a:r>
              <a:rPr lang="ru-RU" b="1" i="1" dirty="0" smtClean="0"/>
              <a:t>данные </a:t>
            </a:r>
            <a:r>
              <a:rPr lang="ru-RU" b="1" i="1" dirty="0"/>
              <a:t>о текущем процессе</a:t>
            </a:r>
            <a:r>
              <a:rPr lang="ru-RU" dirty="0"/>
              <a:t>, который работает с данным </a:t>
            </a:r>
            <a:r>
              <a:rPr lang="ru-RU" dirty="0" smtClean="0"/>
              <a:t>устройством;</a:t>
            </a:r>
          </a:p>
          <a:p>
            <a:pPr marL="285750" lvl="0" indent="-285750">
              <a:buFontTx/>
              <a:buChar char="-"/>
            </a:pPr>
            <a:r>
              <a:rPr lang="ru-RU" b="1" i="1" dirty="0" smtClean="0"/>
              <a:t>адреса </a:t>
            </a:r>
            <a:r>
              <a:rPr lang="ru-RU" b="1" i="1" dirty="0"/>
              <a:t>тех областей памяти, которые содержат данные</a:t>
            </a:r>
            <a:r>
              <a:rPr lang="ru-RU" dirty="0"/>
              <a:t>, собственно и </a:t>
            </a:r>
            <a:r>
              <a:rPr lang="ru-RU" dirty="0" smtClean="0"/>
              <a:t>участвующие </a:t>
            </a:r>
            <a:r>
              <a:rPr lang="ru-RU" dirty="0"/>
              <a:t>в операциях ввода-вывода (получаемые при операциях ввода данных и выводимые на устройство при операциях вывода данных).</a:t>
            </a:r>
          </a:p>
          <a:p>
            <a:endParaRPr lang="ru-RU" dirty="0" smtClean="0"/>
          </a:p>
          <a:p>
            <a:pPr algn="ctr"/>
            <a:r>
              <a:rPr lang="ru-RU" dirty="0" smtClean="0"/>
              <a:t>Такими структурами являются системные </a:t>
            </a:r>
            <a:r>
              <a:rPr lang="ru-RU" b="1" i="1" dirty="0" smtClean="0">
                <a:solidFill>
                  <a:srgbClr val="B71327"/>
                </a:solidFill>
              </a:rPr>
              <a:t>таблицы ввода-вывода</a:t>
            </a:r>
            <a:r>
              <a:rPr lang="ru-RU" dirty="0" smtClean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39549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672" y="0"/>
            <a:ext cx="7416824" cy="620688"/>
          </a:xfrm>
        </p:spPr>
        <p:txBody>
          <a:bodyPr>
            <a:normAutofit/>
          </a:bodyPr>
          <a:lstStyle/>
          <a:p>
            <a:r>
              <a:rPr lang="ru-RU" sz="2200" b="1" dirty="0" smtClean="0">
                <a:solidFill>
                  <a:schemeClr val="bg1"/>
                </a:solidFill>
              </a:rPr>
              <a:t>Основные системные таблицы ввода-вывода</a:t>
            </a:r>
            <a:endParaRPr lang="ru-RU" sz="2200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83568" y="908720"/>
            <a:ext cx="784887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Для различных операционных систем количество</a:t>
            </a:r>
            <a:r>
              <a:rPr lang="ru-RU" dirty="0"/>
              <a:t>, </a:t>
            </a:r>
            <a:r>
              <a:rPr lang="ru-RU" dirty="0" smtClean="0"/>
              <a:t>назначение и </a:t>
            </a:r>
            <a:r>
              <a:rPr lang="ru-RU" dirty="0"/>
              <a:t>состав </a:t>
            </a:r>
            <a:r>
              <a:rPr lang="ru-RU" dirty="0" smtClean="0"/>
              <a:t>каждой таблицы могут </a:t>
            </a:r>
            <a:r>
              <a:rPr lang="ru-RU" dirty="0"/>
              <a:t>сильно отличаться. </a:t>
            </a:r>
            <a:endParaRPr lang="en-US" dirty="0" smtClean="0"/>
          </a:p>
          <a:p>
            <a:r>
              <a:rPr lang="ru-RU" dirty="0" smtClean="0"/>
              <a:t>В </a:t>
            </a:r>
            <a:r>
              <a:rPr lang="ru-RU" dirty="0"/>
              <a:t>некоторых операционных системах вместо таблиц создаются списки, хотя использование </a:t>
            </a:r>
            <a:r>
              <a:rPr lang="ru-RU" dirty="0" smtClean="0"/>
              <a:t>статических </a:t>
            </a:r>
            <a:r>
              <a:rPr lang="ru-RU" dirty="0"/>
              <a:t>структур данных для организации ввода-вывода, как правило, приводит к более высокому быстродействию. </a:t>
            </a:r>
          </a:p>
          <a:p>
            <a:endParaRPr lang="en-US" dirty="0" smtClean="0"/>
          </a:p>
          <a:p>
            <a:r>
              <a:rPr lang="ru-RU" dirty="0" smtClean="0"/>
              <a:t>Исходя </a:t>
            </a:r>
            <a:r>
              <a:rPr lang="ru-RU" dirty="0"/>
              <a:t>из принципа управления вводом-выводом исключительно через </a:t>
            </a:r>
            <a:r>
              <a:rPr lang="ru-RU" dirty="0" smtClean="0"/>
              <a:t>супервизор </a:t>
            </a:r>
            <a:r>
              <a:rPr lang="ru-RU" dirty="0"/>
              <a:t>операционной системы и учитывая, что драйверы устройств ввода-вывода используют механизм прерываний для установления обратной связи центральной части с внешними устройствами, можно сделать вывод о необходимости наличия по крайней мере </a:t>
            </a:r>
            <a:r>
              <a:rPr lang="ru-RU" b="1" dirty="0"/>
              <a:t>трех</a:t>
            </a:r>
            <a:r>
              <a:rPr lang="ru-RU" dirty="0"/>
              <a:t> системных </a:t>
            </a:r>
            <a:r>
              <a:rPr lang="ru-RU" dirty="0" smtClean="0"/>
              <a:t>таблиц:</a:t>
            </a:r>
            <a:endParaRPr lang="en-US" dirty="0" smtClean="0"/>
          </a:p>
          <a:p>
            <a:endParaRPr lang="ru-RU" dirty="0" smtClean="0"/>
          </a:p>
          <a:p>
            <a:pPr marL="342900" indent="-342900">
              <a:buAutoNum type="arabicPeriod"/>
            </a:pPr>
            <a:r>
              <a:rPr lang="ru-RU" b="1" i="1" dirty="0" smtClean="0"/>
              <a:t>таблица </a:t>
            </a:r>
            <a:r>
              <a:rPr lang="ru-RU" b="1" i="1" dirty="0"/>
              <a:t>оборудования</a:t>
            </a:r>
            <a:r>
              <a:rPr lang="ru-RU" dirty="0"/>
              <a:t> </a:t>
            </a:r>
            <a:r>
              <a:rPr lang="ru-RU" dirty="0" smtClean="0"/>
              <a:t>(</a:t>
            </a:r>
            <a:r>
              <a:rPr lang="en-US" dirty="0" smtClean="0"/>
              <a:t>Unit Table)</a:t>
            </a:r>
            <a:endParaRPr lang="ru-RU" dirty="0" smtClean="0"/>
          </a:p>
          <a:p>
            <a:pPr marL="342900" indent="-342900">
              <a:buAutoNum type="arabicPeriod"/>
            </a:pPr>
            <a:r>
              <a:rPr lang="ru-RU" b="1" i="1" dirty="0" smtClean="0"/>
              <a:t>таблица </a:t>
            </a:r>
            <a:r>
              <a:rPr lang="ru-RU" b="1" i="1" dirty="0"/>
              <a:t>виртуальных логических устройств</a:t>
            </a:r>
            <a:r>
              <a:rPr lang="ru-RU" b="1" dirty="0"/>
              <a:t> </a:t>
            </a:r>
            <a:r>
              <a:rPr lang="ru-RU" dirty="0"/>
              <a:t>(</a:t>
            </a:r>
            <a:r>
              <a:rPr lang="ru-RU" dirty="0" err="1"/>
              <a:t>Device</a:t>
            </a:r>
            <a:r>
              <a:rPr lang="ru-RU" dirty="0"/>
              <a:t> </a:t>
            </a:r>
            <a:r>
              <a:rPr lang="ru-RU" dirty="0" err="1"/>
              <a:t>Reference</a:t>
            </a:r>
            <a:r>
              <a:rPr lang="ru-RU" dirty="0"/>
              <a:t> </a:t>
            </a:r>
            <a:r>
              <a:rPr lang="ru-RU" dirty="0" err="1"/>
              <a:t>Table</a:t>
            </a:r>
            <a:r>
              <a:rPr lang="ru-RU" dirty="0"/>
              <a:t>, DRT</a:t>
            </a:r>
            <a:r>
              <a:rPr lang="ru-RU" dirty="0" smtClean="0"/>
              <a:t>)</a:t>
            </a:r>
          </a:p>
          <a:p>
            <a:pPr marL="342900" indent="-342900">
              <a:buAutoNum type="arabicPeriod"/>
            </a:pPr>
            <a:r>
              <a:rPr lang="ru-RU" b="1" i="1" dirty="0"/>
              <a:t>таблица </a:t>
            </a:r>
            <a:r>
              <a:rPr lang="ru-RU" b="1" i="1" dirty="0" smtClean="0"/>
              <a:t>прерываний</a:t>
            </a:r>
            <a:r>
              <a:rPr lang="ru-RU" i="1" dirty="0" smtClean="0"/>
              <a:t> </a:t>
            </a:r>
            <a:r>
              <a:rPr lang="en-US" i="1" dirty="0" smtClean="0"/>
              <a:t>(Interrupt Table)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5723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672" y="0"/>
            <a:ext cx="7416824" cy="620688"/>
          </a:xfrm>
        </p:spPr>
        <p:txBody>
          <a:bodyPr>
            <a:normAutofit/>
          </a:bodyPr>
          <a:lstStyle/>
          <a:p>
            <a:r>
              <a:rPr lang="ru-RU" sz="2400" i="1" dirty="0" smtClean="0">
                <a:solidFill>
                  <a:schemeClr val="bg1"/>
                </a:solidFill>
              </a:rPr>
              <a:t>Таблица </a:t>
            </a:r>
            <a:r>
              <a:rPr lang="ru-RU" sz="2400" i="1" dirty="0">
                <a:solidFill>
                  <a:schemeClr val="bg1"/>
                </a:solidFill>
              </a:rPr>
              <a:t>оборудования</a:t>
            </a:r>
            <a:r>
              <a:rPr lang="ru-RU" sz="2400" dirty="0">
                <a:solidFill>
                  <a:schemeClr val="bg1"/>
                </a:solidFill>
              </a:rPr>
              <a:t> (</a:t>
            </a:r>
            <a:r>
              <a:rPr lang="en-US" sz="2400" dirty="0">
                <a:solidFill>
                  <a:schemeClr val="bg1"/>
                </a:solidFill>
              </a:rPr>
              <a:t>Unit Table)</a:t>
            </a:r>
            <a:endParaRPr lang="ru-RU" sz="2200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908720"/>
            <a:ext cx="849694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строка таблицы </a:t>
            </a:r>
            <a:r>
              <a:rPr lang="ru-RU" dirty="0"/>
              <a:t>—</a:t>
            </a:r>
            <a:r>
              <a:rPr lang="ru-RU" dirty="0" smtClean="0"/>
              <a:t> </a:t>
            </a:r>
            <a:r>
              <a:rPr lang="ru-RU" b="1" i="1" dirty="0"/>
              <a:t>блок управления устройством ввода-вывода</a:t>
            </a:r>
            <a:r>
              <a:rPr lang="ru-RU" dirty="0"/>
              <a:t> </a:t>
            </a:r>
            <a:r>
              <a:rPr lang="ru-RU" dirty="0" smtClean="0"/>
              <a:t>(</a:t>
            </a:r>
            <a:r>
              <a:rPr lang="ru-RU" dirty="0" err="1"/>
              <a:t>Unit</a:t>
            </a:r>
            <a:r>
              <a:rPr lang="ru-RU" dirty="0"/>
              <a:t> </a:t>
            </a:r>
            <a:r>
              <a:rPr lang="ru-RU" dirty="0" err="1"/>
              <a:t>Control</a:t>
            </a:r>
            <a:r>
              <a:rPr lang="ru-RU" dirty="0"/>
              <a:t> </a:t>
            </a:r>
            <a:r>
              <a:rPr lang="ru-RU" dirty="0" err="1" smtClean="0"/>
              <a:t>Block</a:t>
            </a:r>
            <a:r>
              <a:rPr lang="ru-RU" dirty="0" smtClean="0"/>
              <a:t>, </a:t>
            </a:r>
            <a:r>
              <a:rPr lang="ru-RU" b="1" i="1" dirty="0" smtClean="0"/>
              <a:t>UCB</a:t>
            </a:r>
            <a:r>
              <a:rPr lang="ru-RU" dirty="0" smtClean="0"/>
              <a:t>), </a:t>
            </a:r>
            <a:r>
              <a:rPr lang="ru-RU" dirty="0"/>
              <a:t>как правило, содержит следующую информацию об устройстве:</a:t>
            </a:r>
          </a:p>
          <a:p>
            <a:pPr marL="285750" lvl="0" indent="-285750">
              <a:buFontTx/>
              <a:buChar char="-"/>
            </a:pPr>
            <a:r>
              <a:rPr lang="ru-RU" dirty="0" smtClean="0"/>
              <a:t>тип </a:t>
            </a:r>
            <a:r>
              <a:rPr lang="ru-RU" dirty="0"/>
              <a:t>устройства, его конкретная </a:t>
            </a:r>
            <a:r>
              <a:rPr lang="ru-RU" dirty="0" smtClean="0"/>
              <a:t>модель и </a:t>
            </a:r>
            <a:r>
              <a:rPr lang="ru-RU" dirty="0"/>
              <a:t>характеристики </a:t>
            </a:r>
            <a:r>
              <a:rPr lang="ru-RU" dirty="0" smtClean="0"/>
              <a:t>устройства;</a:t>
            </a:r>
          </a:p>
          <a:p>
            <a:pPr marL="285750" lvl="0" indent="-285750">
              <a:buFontTx/>
              <a:buChar char="-"/>
            </a:pPr>
            <a:r>
              <a:rPr lang="ru-RU" dirty="0" smtClean="0"/>
              <a:t>способ </a:t>
            </a:r>
            <a:r>
              <a:rPr lang="ru-RU" dirty="0"/>
              <a:t>подключения устройства (через какой интерфейс, к какому разъему, какие порты и линия запроса прерывания используются и т. д</a:t>
            </a:r>
            <a:r>
              <a:rPr lang="ru-RU" dirty="0" smtClean="0"/>
              <a:t>.);</a:t>
            </a:r>
          </a:p>
          <a:p>
            <a:pPr marL="285750" lvl="0" indent="-285750">
              <a:buFontTx/>
              <a:buChar char="-"/>
            </a:pPr>
            <a:r>
              <a:rPr lang="ru-RU" dirty="0" smtClean="0"/>
              <a:t>номер </a:t>
            </a:r>
            <a:r>
              <a:rPr lang="ru-RU" dirty="0"/>
              <a:t>и адрес канала (и подканала), если такие используются для управления </a:t>
            </a:r>
            <a:r>
              <a:rPr lang="ru-RU" dirty="0" smtClean="0"/>
              <a:t>устройством;</a:t>
            </a:r>
          </a:p>
          <a:p>
            <a:pPr marL="285750" lvl="0" indent="-285750">
              <a:buFontTx/>
              <a:buChar char="-"/>
            </a:pPr>
            <a:r>
              <a:rPr lang="ru-RU" dirty="0" smtClean="0"/>
              <a:t>информация </a:t>
            </a:r>
            <a:r>
              <a:rPr lang="ru-RU" dirty="0"/>
              <a:t>о драйвере, который должен управлять этим устройством, адреса секции запуска и секции продолжения </a:t>
            </a:r>
            <a:r>
              <a:rPr lang="ru-RU" dirty="0" smtClean="0"/>
              <a:t>драйвера;</a:t>
            </a:r>
          </a:p>
          <a:p>
            <a:pPr marL="285750" lvl="0" indent="-285750">
              <a:buFontTx/>
              <a:buChar char="-"/>
            </a:pPr>
            <a:r>
              <a:rPr lang="ru-RU" dirty="0" smtClean="0"/>
              <a:t>информация </a:t>
            </a:r>
            <a:r>
              <a:rPr lang="ru-RU" dirty="0"/>
              <a:t>о том, используется или нет буферизация при обмене данными с устройством, «имя» (или просто адрес) буфера, если такой выделяется из </a:t>
            </a:r>
            <a:r>
              <a:rPr lang="ru-RU" dirty="0" smtClean="0"/>
              <a:t>системной </a:t>
            </a:r>
            <a:r>
              <a:rPr lang="ru-RU" dirty="0"/>
              <a:t>области </a:t>
            </a:r>
            <a:r>
              <a:rPr lang="ru-RU" dirty="0" smtClean="0"/>
              <a:t>памяти;</a:t>
            </a:r>
          </a:p>
          <a:p>
            <a:pPr marL="285750" lvl="0" indent="-285750">
              <a:buFontTx/>
              <a:buChar char="-"/>
            </a:pPr>
            <a:r>
              <a:rPr lang="ru-RU" dirty="0" smtClean="0"/>
              <a:t>установка </a:t>
            </a:r>
            <a:r>
              <a:rPr lang="ru-RU" dirty="0"/>
              <a:t>тайм-аута и ячейки для счетчика </a:t>
            </a:r>
            <a:r>
              <a:rPr lang="ru-RU" dirty="0" smtClean="0"/>
              <a:t>тайм-аута;</a:t>
            </a:r>
          </a:p>
          <a:p>
            <a:pPr marL="285750" lvl="0" indent="-285750">
              <a:buFontTx/>
              <a:buChar char="-"/>
            </a:pPr>
            <a:r>
              <a:rPr lang="ru-RU" dirty="0" smtClean="0"/>
              <a:t>состояние устройства;</a:t>
            </a:r>
          </a:p>
          <a:p>
            <a:pPr marL="285750" lvl="0" indent="-285750">
              <a:buFontTx/>
              <a:buChar char="-"/>
            </a:pPr>
            <a:r>
              <a:rPr lang="ru-RU" dirty="0" smtClean="0"/>
              <a:t>поле </a:t>
            </a:r>
            <a:r>
              <a:rPr lang="ru-RU" dirty="0"/>
              <a:t>указателя </a:t>
            </a:r>
            <a:r>
              <a:rPr lang="ru-RU" dirty="0" smtClean="0"/>
              <a:t>на список задач</a:t>
            </a:r>
            <a:r>
              <a:rPr lang="ru-RU" dirty="0"/>
              <a:t>, ожидающих устройство.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87659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672" y="0"/>
            <a:ext cx="7416824" cy="620688"/>
          </a:xfrm>
        </p:spPr>
        <p:txBody>
          <a:bodyPr>
            <a:normAutofit fontScale="90000"/>
          </a:bodyPr>
          <a:lstStyle/>
          <a:p>
            <a:pPr marL="342900" indent="-342900"/>
            <a:r>
              <a:rPr lang="ru-RU" sz="2400" b="1" i="1" dirty="0" smtClean="0">
                <a:solidFill>
                  <a:schemeClr val="bg1"/>
                </a:solidFill>
              </a:rPr>
              <a:t>Таблица </a:t>
            </a:r>
            <a:r>
              <a:rPr lang="ru-RU" sz="2400" b="1" i="1" dirty="0">
                <a:solidFill>
                  <a:schemeClr val="bg1"/>
                </a:solidFill>
              </a:rPr>
              <a:t>виртуальных логических устройств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smtClean="0">
                <a:solidFill>
                  <a:schemeClr val="bg1"/>
                </a:solidFill>
              </a:rPr>
              <a:t/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 smtClean="0">
                <a:solidFill>
                  <a:schemeClr val="bg1"/>
                </a:solidFill>
              </a:rPr>
              <a:t>(</a:t>
            </a:r>
            <a:r>
              <a:rPr lang="ru-RU" sz="2400" b="1" dirty="0" err="1">
                <a:solidFill>
                  <a:schemeClr val="bg1"/>
                </a:solidFill>
              </a:rPr>
              <a:t>Device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Reference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Table</a:t>
            </a:r>
            <a:r>
              <a:rPr lang="ru-RU" sz="2400" b="1" dirty="0">
                <a:solidFill>
                  <a:schemeClr val="bg1"/>
                </a:solidFill>
              </a:rPr>
              <a:t>, DRT)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74416" y="1124744"/>
            <a:ext cx="799811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Предназначена </a:t>
            </a:r>
            <a:r>
              <a:rPr lang="ru-RU" dirty="0"/>
              <a:t>для реализации </a:t>
            </a:r>
            <a:r>
              <a:rPr lang="ru-RU" dirty="0" smtClean="0"/>
              <a:t>принципа виртуализации </a:t>
            </a:r>
            <a:r>
              <a:rPr lang="ru-RU" dirty="0"/>
              <a:t>устройств ввода-вывода — принципа независимости от </a:t>
            </a:r>
            <a:r>
              <a:rPr lang="ru-RU" dirty="0" smtClean="0"/>
              <a:t>устройства, за счет установления связи </a:t>
            </a:r>
            <a:r>
              <a:rPr lang="ru-RU" dirty="0"/>
              <a:t>между виртуальными (логическими) устройствами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и </a:t>
            </a:r>
            <a:r>
              <a:rPr lang="ru-RU" dirty="0"/>
              <a:t>реальными устройствами, описанными посредством </a:t>
            </a:r>
            <a:r>
              <a:rPr lang="ru-RU" dirty="0" smtClean="0"/>
              <a:t>таблицы оборудования. </a:t>
            </a:r>
          </a:p>
          <a:p>
            <a:endParaRPr lang="ru-RU" dirty="0"/>
          </a:p>
          <a:p>
            <a:r>
              <a:rPr lang="ru-RU" dirty="0"/>
              <a:t>Позволяет супервизору перенаправить запрос на ввод-вывод из приложения в те программные модули и структуры данных, которые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(</a:t>
            </a:r>
            <a:r>
              <a:rPr lang="ru-RU" dirty="0"/>
              <a:t>или </a:t>
            </a:r>
            <a:r>
              <a:rPr lang="ru-RU" dirty="0" smtClean="0"/>
              <a:t>адреса </a:t>
            </a:r>
            <a:r>
              <a:rPr lang="ru-RU" dirty="0"/>
              <a:t>которых) хранятся в соответствующем элементе первой таблицы.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87238317"/>
              </p:ext>
            </p:extLst>
          </p:nvPr>
        </p:nvGraphicFramePr>
        <p:xfrm>
          <a:off x="1331640" y="4514864"/>
          <a:ext cx="6096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Логическое устройство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Номер строки таблицы оборудования </a:t>
                      </a:r>
                      <a:br>
                        <a:rPr lang="ru-RU" dirty="0" smtClean="0"/>
                      </a:br>
                      <a:r>
                        <a:rPr lang="ru-RU" dirty="0" smtClean="0"/>
                        <a:t>(физическое устройство)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42428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672" y="0"/>
            <a:ext cx="7416824" cy="620688"/>
          </a:xfrm>
        </p:spPr>
        <p:txBody>
          <a:bodyPr>
            <a:normAutofit/>
          </a:bodyPr>
          <a:lstStyle/>
          <a:p>
            <a:pPr marL="342900" indent="-342900"/>
            <a:r>
              <a:rPr lang="ru-RU" sz="2000" b="1" i="1" dirty="0">
                <a:solidFill>
                  <a:schemeClr val="bg1"/>
                </a:solidFill>
              </a:rPr>
              <a:t>Т</a:t>
            </a:r>
            <a:r>
              <a:rPr lang="ru-RU" sz="2000" b="1" i="1" dirty="0" smtClean="0">
                <a:solidFill>
                  <a:schemeClr val="bg1"/>
                </a:solidFill>
              </a:rPr>
              <a:t>аблица </a:t>
            </a:r>
            <a:r>
              <a:rPr lang="ru-RU" sz="2000" b="1" i="1" dirty="0">
                <a:solidFill>
                  <a:schemeClr val="bg1"/>
                </a:solidFill>
              </a:rPr>
              <a:t>прерываний </a:t>
            </a:r>
            <a:r>
              <a:rPr lang="en-US" sz="2000" b="1" i="1" dirty="0">
                <a:solidFill>
                  <a:schemeClr val="bg1"/>
                </a:solidFill>
              </a:rPr>
              <a:t>(Interrupt Table)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7158" y="908720"/>
            <a:ext cx="838271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Необходима </a:t>
            </a:r>
            <a:r>
              <a:rPr lang="ru-RU" dirty="0"/>
              <a:t>для организации обратной связи между </a:t>
            </a:r>
            <a:r>
              <a:rPr lang="ru-RU" dirty="0" smtClean="0"/>
              <a:t>центральным процессором </a:t>
            </a:r>
            <a:r>
              <a:rPr lang="ru-RU" dirty="0"/>
              <a:t>и устройствами ввода-вывода.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Указывает </a:t>
            </a:r>
            <a:r>
              <a:rPr lang="ru-RU" dirty="0"/>
              <a:t>для каждого сигнала запроса на прерывание тот элемент UCB, </a:t>
            </a:r>
            <a:r>
              <a:rPr lang="ru-RU" dirty="0" smtClean="0"/>
              <a:t>который </a:t>
            </a:r>
            <a:r>
              <a:rPr lang="ru-RU" dirty="0"/>
              <a:t>сопоставлен данному устройству.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Каждое </a:t>
            </a:r>
            <a:r>
              <a:rPr lang="ru-RU" dirty="0"/>
              <a:t>устройство либо имеет свою линию запроса на прерывание, либо разделяет линию запроса на прерывание с другими устройствами, но при этом имеется механизм второго уровня адресации устройств ввода-вывода. </a:t>
            </a:r>
            <a:endParaRPr lang="ru-RU" dirty="0" smtClean="0"/>
          </a:p>
          <a:p>
            <a:endParaRPr lang="ru-RU" dirty="0"/>
          </a:p>
          <a:p>
            <a:r>
              <a:rPr lang="ru-RU" dirty="0" smtClean="0"/>
              <a:t>Таким </a:t>
            </a:r>
            <a:r>
              <a:rPr lang="ru-RU" dirty="0"/>
              <a:t>образом, </a:t>
            </a:r>
            <a:r>
              <a:rPr lang="ru-RU" i="1" dirty="0"/>
              <a:t>таблица прерываний отображает связи между </a:t>
            </a:r>
            <a:r>
              <a:rPr lang="ru-RU" i="1" dirty="0" smtClean="0"/>
              <a:t>сигналами </a:t>
            </a:r>
            <a:r>
              <a:rPr lang="ru-RU" i="1" dirty="0"/>
              <a:t>запроса на прерывания и самими устройствами ввода-вывода</a:t>
            </a:r>
            <a:r>
              <a:rPr lang="ru-RU" dirty="0"/>
              <a:t>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30</a:t>
            </a:fld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12623211"/>
              </p:ext>
            </p:extLst>
          </p:nvPr>
        </p:nvGraphicFramePr>
        <p:xfrm>
          <a:off x="827584" y="4994366"/>
          <a:ext cx="7416824" cy="79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4403"/>
                <a:gridCol w="4002421"/>
              </a:tblGrid>
              <a:tr h="792088">
                <a:tc>
                  <a:txBody>
                    <a:bodyPr/>
                    <a:lstStyle/>
                    <a:p>
                      <a:r>
                        <a:rPr lang="ru-RU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Номер запроса на прерывание </a:t>
                      </a:r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 Interrupt request, IRQ)</a:t>
                      </a:r>
                      <a:endParaRPr lang="ru-RU" sz="1800" b="1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Номер строки таблицы оборудования </a:t>
                      </a:r>
                      <a:br>
                        <a:rPr lang="ru-RU" dirty="0" smtClean="0"/>
                      </a:br>
                      <a:r>
                        <a:rPr lang="ru-RU" dirty="0" smtClean="0"/>
                        <a:t>(физическое устройство</a:t>
                      </a:r>
                      <a:r>
                        <a:rPr lang="en-US" dirty="0" smtClean="0"/>
                        <a:t>,</a:t>
                      </a:r>
                      <a:r>
                        <a:rPr lang="en-US" baseline="0" dirty="0" smtClean="0"/>
                        <a:t> UCB</a:t>
                      </a:r>
                      <a:r>
                        <a:rPr lang="ru-RU" dirty="0" smtClean="0"/>
                        <a:t>)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81323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6961" y="1124744"/>
            <a:ext cx="7913606" cy="4257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672" y="0"/>
            <a:ext cx="7416824" cy="620688"/>
          </a:xfrm>
        </p:spPr>
        <p:txBody>
          <a:bodyPr>
            <a:normAutofit/>
          </a:bodyPr>
          <a:lstStyle/>
          <a:p>
            <a:r>
              <a:rPr lang="ru-RU" sz="2200" b="1" dirty="0" smtClean="0">
                <a:solidFill>
                  <a:schemeClr val="bg1"/>
                </a:solidFill>
              </a:rPr>
              <a:t>Взаимосвязь </a:t>
            </a:r>
            <a:r>
              <a:rPr lang="ru-RU" sz="2200" b="1" dirty="0">
                <a:solidFill>
                  <a:schemeClr val="bg1"/>
                </a:solidFill>
              </a:rPr>
              <a:t>системных таблиц </a:t>
            </a:r>
            <a:r>
              <a:rPr lang="ru-RU" sz="2200" b="1" dirty="0" smtClean="0">
                <a:solidFill>
                  <a:schemeClr val="bg1"/>
                </a:solidFill>
              </a:rPr>
              <a:t>ввода-вывода</a:t>
            </a:r>
            <a:endParaRPr lang="ru-RU" sz="2200" b="1" dirty="0">
              <a:solidFill>
                <a:schemeClr val="bg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8791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35696" y="0"/>
            <a:ext cx="6851104" cy="620688"/>
          </a:xfrm>
        </p:spPr>
        <p:txBody>
          <a:bodyPr>
            <a:normAutofit/>
          </a:bodyPr>
          <a:lstStyle/>
          <a:p>
            <a:r>
              <a:rPr lang="ru-RU" sz="2200" b="1" dirty="0" smtClean="0">
                <a:solidFill>
                  <a:schemeClr val="bg1"/>
                </a:solidFill>
              </a:rPr>
              <a:t>Процесс управления вводом/выводом</a:t>
            </a:r>
            <a:endParaRPr lang="ru-RU" sz="2200" b="1" dirty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692696"/>
            <a:ext cx="8928992" cy="5881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78559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35696" y="0"/>
            <a:ext cx="6851104" cy="620688"/>
          </a:xfrm>
        </p:spPr>
        <p:txBody>
          <a:bodyPr>
            <a:normAutofit/>
          </a:bodyPr>
          <a:lstStyle/>
          <a:p>
            <a:r>
              <a:rPr lang="ru-RU" sz="2200" b="1" dirty="0" smtClean="0">
                <a:solidFill>
                  <a:schemeClr val="bg1"/>
                </a:solidFill>
              </a:rPr>
              <a:t>Процесс управления вводом/выводом</a:t>
            </a:r>
            <a:endParaRPr lang="ru-RU" sz="2200" b="1" dirty="0">
              <a:solidFill>
                <a:schemeClr val="bg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33</a:t>
            </a:fld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692696"/>
            <a:ext cx="4320480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572000" y="908720"/>
            <a:ext cx="43204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Программа, для дальнейшего выполнения которой требуется выполнить операцию ввода/вывода, направляет соответствующий запрос супервизору задач (шаг 1).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Этот </a:t>
            </a:r>
            <a:r>
              <a:rPr lang="ru-RU" dirty="0"/>
              <a:t>запрос оформляется в виде системного вызова конкретной функции API. Вызов сопровождается некоторыми параметрами, уточняющими требуемую операцию. Супервизор ввода/ вывода проверяет системный вызов на соответствие принятым в операционной системе спецификациям и в случае ошибки возвращает задаче соответствующее сообщение (шаг 1-1). </a:t>
            </a:r>
          </a:p>
        </p:txBody>
      </p:sp>
    </p:spTree>
    <p:extLst>
      <p:ext uri="{BB962C8B-B14F-4D97-AF65-F5344CB8AC3E}">
        <p14:creationId xmlns:p14="http://schemas.microsoft.com/office/powerpoint/2010/main" xmlns="" val="3715848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35696" y="0"/>
            <a:ext cx="6851104" cy="620688"/>
          </a:xfrm>
        </p:spPr>
        <p:txBody>
          <a:bodyPr>
            <a:normAutofit/>
          </a:bodyPr>
          <a:lstStyle/>
          <a:p>
            <a:r>
              <a:rPr lang="ru-RU" sz="2200" b="1" dirty="0" smtClean="0">
                <a:solidFill>
                  <a:schemeClr val="bg1"/>
                </a:solidFill>
              </a:rPr>
              <a:t>Процесс управления вводом/выводом</a:t>
            </a:r>
            <a:endParaRPr lang="ru-RU" sz="2200" b="1" dirty="0">
              <a:solidFill>
                <a:schemeClr val="bg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34</a:t>
            </a:fld>
            <a:endParaRPr lang="ru-RU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6713"/>
            <a:ext cx="3744416" cy="4640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995936" y="857326"/>
            <a:ext cx="504056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же запрос корректен, то супервизор ввода/вывода по логическому (виртуальному) имени с помощью таблицы DRT (шаг 2) находит соответствующий элемент UCB в таблице оборудования (шаг 2-1).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Если </a:t>
            </a:r>
            <a:r>
              <a:rPr lang="ru-RU" dirty="0"/>
              <a:t>устройство уже занято, то номер дескриптора задачи, запрос которой обрабатывается супервизором ввода/вывода, помещается в дескриптор устройства в список задач, ожидающих это устройство.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Если </a:t>
            </a:r>
            <a:r>
              <a:rPr lang="ru-RU" dirty="0"/>
              <a:t>же устройство свободно, то супервизор ввода/вывода определяет из UCB тип устройства и при необходимости запускает препроцессор (шаг 3), позволяющий получить последовательность управляющих кодов и данных, которую сможет правильно понять и отработать устройство (шаг </a:t>
            </a:r>
            <a:r>
              <a:rPr lang="ru-RU" dirty="0" smtClean="0"/>
              <a:t>3-1).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86703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35696" y="0"/>
            <a:ext cx="6851104" cy="620688"/>
          </a:xfrm>
        </p:spPr>
        <p:txBody>
          <a:bodyPr>
            <a:normAutofit/>
          </a:bodyPr>
          <a:lstStyle/>
          <a:p>
            <a:r>
              <a:rPr lang="ru-RU" sz="2200" b="1" dirty="0" smtClean="0">
                <a:solidFill>
                  <a:schemeClr val="bg1"/>
                </a:solidFill>
              </a:rPr>
              <a:t>Процесс управления вводом/выводом</a:t>
            </a:r>
            <a:endParaRPr lang="ru-RU" sz="2200" b="1" dirty="0">
              <a:solidFill>
                <a:schemeClr val="bg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35</a:t>
            </a:fld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620688"/>
            <a:ext cx="7441535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73992" y="5776233"/>
            <a:ext cx="896250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Драйвер </a:t>
            </a:r>
            <a:r>
              <a:rPr lang="ru-RU" dirty="0"/>
              <a:t>инициализирует операцию управления (шаг 5), обнуляет счетчик тайм-аута и передает управление диспетчеру задач (шаг 5-1) с тем, чтобы он поставил на процессор готовую к исполнению задачу.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228183" y="2636912"/>
            <a:ext cx="291085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Когда «программа» управления операцией ввода/вывода, созданная предпроцессором ввода/ вывода, будет готова, супервизор ввода/вывода передает управление соответствующему драйверу на секцию запуска (шаг 4). </a:t>
            </a:r>
          </a:p>
        </p:txBody>
      </p:sp>
    </p:spTree>
    <p:extLst>
      <p:ext uri="{BB962C8B-B14F-4D97-AF65-F5344CB8AC3E}">
        <p14:creationId xmlns:p14="http://schemas.microsoft.com/office/powerpoint/2010/main" xmlns="" val="188529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35696" y="0"/>
            <a:ext cx="6851104" cy="620688"/>
          </a:xfrm>
        </p:spPr>
        <p:txBody>
          <a:bodyPr>
            <a:normAutofit/>
          </a:bodyPr>
          <a:lstStyle/>
          <a:p>
            <a:r>
              <a:rPr lang="ru-RU" sz="2200" b="1" dirty="0" smtClean="0">
                <a:solidFill>
                  <a:schemeClr val="bg1"/>
                </a:solidFill>
              </a:rPr>
              <a:t>Процесс управления вводом/выводом</a:t>
            </a:r>
            <a:endParaRPr lang="ru-RU" sz="2200" b="1" dirty="0">
              <a:solidFill>
                <a:schemeClr val="bg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36</a:t>
            </a:fld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620688"/>
            <a:ext cx="7441535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73992" y="5776233"/>
            <a:ext cx="896250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Драйвер </a:t>
            </a:r>
            <a:r>
              <a:rPr lang="ru-RU" dirty="0"/>
              <a:t>инициализирует операцию управления (шаг 5), обнуляет счетчик тайм-аута и передает управление диспетчеру задач (шаг 5-1) с тем, чтобы он поставил на процессор готовую к исполнению задачу.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228183" y="2636912"/>
            <a:ext cx="291085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Когда «программа» управления операцией ввода/вывода, созданная предпроцессором ввода/ вывода, будет готова, супервизор ввода/вывода передает управление соответствующему драйверу на секцию запуска (шаг 4). </a:t>
            </a:r>
          </a:p>
        </p:txBody>
      </p:sp>
    </p:spTree>
    <p:extLst>
      <p:ext uri="{BB962C8B-B14F-4D97-AF65-F5344CB8AC3E}">
        <p14:creationId xmlns:p14="http://schemas.microsoft.com/office/powerpoint/2010/main" xmlns="" val="317915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35696" y="0"/>
            <a:ext cx="6851104" cy="620688"/>
          </a:xfrm>
        </p:spPr>
        <p:txBody>
          <a:bodyPr>
            <a:normAutofit/>
          </a:bodyPr>
          <a:lstStyle/>
          <a:p>
            <a:r>
              <a:rPr lang="ru-RU" sz="2200" b="1" dirty="0" smtClean="0">
                <a:solidFill>
                  <a:schemeClr val="bg1"/>
                </a:solidFill>
              </a:rPr>
              <a:t>Процесс управления вводом/выводом</a:t>
            </a:r>
            <a:endParaRPr lang="ru-RU" sz="2200" b="1" dirty="0">
              <a:solidFill>
                <a:schemeClr val="bg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3627E-DE21-41BD-84A1-D8CD554ED574}" type="slidenum">
              <a:rPr lang="ru-RU" smtClean="0"/>
              <a:pPr>
                <a:defRPr/>
              </a:pPr>
              <a:t>37</a:t>
            </a:fld>
            <a:endParaRPr lang="ru-R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04048" y="717793"/>
            <a:ext cx="39243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51520" y="945679"/>
            <a:ext cx="4572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Система работает своим чередом,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и </a:t>
            </a:r>
            <a:r>
              <a:rPr lang="ru-RU" dirty="0"/>
              <a:t>когда устройство ввода/вывода отработает посланную ему команду,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оно </a:t>
            </a:r>
            <a:r>
              <a:rPr lang="ru-RU" dirty="0"/>
              <a:t>выставляет сигнал запроса на прерывание (шаг 6), по которому через таблицу прерываний управление передается на секцию продолжения (шаг 6-1).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Получив </a:t>
            </a:r>
            <a:r>
              <a:rPr lang="ru-RU" dirty="0"/>
              <a:t>новую команду, внешнее устройство вновь начинает ее обрабатывать (шаг 7), а управление процессором снова передается диспетчеру задач (шаг 7-1), и процессор продолжает выполнять полезную работу. Таким образом, получается параллельная обработка задач, на фоне которой процессор осуществляет управление операциями ввода/вывода.</a:t>
            </a:r>
          </a:p>
        </p:txBody>
      </p:sp>
    </p:spTree>
    <p:extLst>
      <p:ext uri="{BB962C8B-B14F-4D97-AF65-F5344CB8AC3E}">
        <p14:creationId xmlns:p14="http://schemas.microsoft.com/office/powerpoint/2010/main" xmlns="" val="55262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bd6f1a242b24fda9b5ae85096a62a90c7c264fb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8765</TotalTime>
  <Words>2527</Words>
  <Application>Microsoft Office PowerPoint</Application>
  <PresentationFormat>Экран (4:3)</PresentationFormat>
  <Paragraphs>242</Paragraphs>
  <Slides>37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38" baseType="lpstr">
      <vt:lpstr>Тема Office</vt:lpstr>
      <vt:lpstr>Слайд 1</vt:lpstr>
      <vt:lpstr>Особенности управления вводом/выводом  в операционных системах</vt:lpstr>
      <vt:lpstr>Основная задача разработчиков  подсистемы управления вводом/выводом</vt:lpstr>
      <vt:lpstr>Основные требования к подсистеме ввода/вывода </vt:lpstr>
      <vt:lpstr>Определяющий принцип при проектировании  подсистемы управления вводом/выводом</vt:lpstr>
      <vt:lpstr>Почему вводом-выводом должна управлять  операционная система</vt:lpstr>
      <vt:lpstr>Почему вводом-выводом должна управлять  операционная система</vt:lpstr>
      <vt:lpstr>Почему вводом-выводом должна управлять  операционная система</vt:lpstr>
      <vt:lpstr>Почему вводом-выводом должна управлять  операционная система</vt:lpstr>
      <vt:lpstr>Поддержка принципа  «ввод/вывод – работа ОС»  наличие двух режимов работы</vt:lpstr>
      <vt:lpstr>Режимы ввода/вывода</vt:lpstr>
      <vt:lpstr>Управление вводом/выводом с опросом готовности (Синхронный режим ввода-вывода)</vt:lpstr>
      <vt:lpstr>Управление вводом/выводом по прерываниям (Асинхронный режим ввода-вывода)</vt:lpstr>
      <vt:lpstr>Управление вводом/выводом по прерываниям (Асинхронный режим ввода-вывода)</vt:lpstr>
      <vt:lpstr>Управление вводом/выводом по прерываниям  с использованием каналов вода-вывода</vt:lpstr>
      <vt:lpstr>Примеры реализации двух режимов ввода-вывода в персональных компьютерах</vt:lpstr>
      <vt:lpstr>Использование блокирующих (синхронных) и неблокирующих (асинхронных) передач</vt:lpstr>
      <vt:lpstr>Организация программного обеспечения ввода-вывода</vt:lpstr>
      <vt:lpstr>Независимый от устройств слой операционной системы</vt:lpstr>
      <vt:lpstr>Супервизор ввода-вывода и его задачи</vt:lpstr>
      <vt:lpstr>Драйверы устройств</vt:lpstr>
      <vt:lpstr>Работа драйвера устройств</vt:lpstr>
      <vt:lpstr>Упрощенная структура драйвера устройств</vt:lpstr>
      <vt:lpstr>Обработка ошибок ввода-вывода</vt:lpstr>
      <vt:lpstr>Организация программного обеспечения ввода-вывода</vt:lpstr>
      <vt:lpstr>Информация, необходимая для управления вводом-выводом</vt:lpstr>
      <vt:lpstr>Основные системные таблицы ввода-вывода</vt:lpstr>
      <vt:lpstr>Таблица оборудования (Unit Table)</vt:lpstr>
      <vt:lpstr>Таблица виртуальных логических устройств  (Device Reference Table, DRT)</vt:lpstr>
      <vt:lpstr>Таблица прерываний (Interrupt Table)</vt:lpstr>
      <vt:lpstr>Взаимосвязь системных таблиц ввода-вывода</vt:lpstr>
      <vt:lpstr>Процесс управления вводом/выводом</vt:lpstr>
      <vt:lpstr>Процесс управления вводом/выводом</vt:lpstr>
      <vt:lpstr>Процесс управления вводом/выводом</vt:lpstr>
      <vt:lpstr>Процесс управления вводом/выводом</vt:lpstr>
      <vt:lpstr>Процесс управления вводом/выводом</vt:lpstr>
      <vt:lpstr>Процесс управления вводом/выводом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Екатерина Александровна Безуглова</dc:creator>
  <cp:lastModifiedBy>Ivanov_N_A</cp:lastModifiedBy>
  <cp:revision>1107</cp:revision>
  <cp:lastPrinted>2014-03-03T11:38:03Z</cp:lastPrinted>
  <dcterms:created xsi:type="dcterms:W3CDTF">2013-12-13T09:30:33Z</dcterms:created>
  <dcterms:modified xsi:type="dcterms:W3CDTF">2025-02-17T05:02:40Z</dcterms:modified>
</cp:coreProperties>
</file>